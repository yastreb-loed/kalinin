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Instrument Sans Medium" panose="020B0604020202020204" charset="0"/>
      <p:regular r:id="rId15"/>
    </p:embeddedFont>
    <p:embeddedFont>
      <p:font typeface="Instrument Sans Bold" panose="020B0604020202020204" charset="0"/>
      <p:regular r:id="rId16"/>
    </p:embeddedFont>
    <p:embeddedFont>
      <p:font typeface="Instrument Sans Semi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-318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7A0233-F685-4234-B05E-220279B1B192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E55D8F-3615-4E9F-A351-B9EC325DF0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5050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-2-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-2-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-2-3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-2-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5-2.svg"/><Relationship Id="rId5" Type="http://schemas.openxmlformats.org/officeDocument/2006/relationships/image" Target="../media/image-5-2.svg"/><Relationship Id="rId4" Type="http://schemas.openxmlformats.org/officeDocument/2006/relationships/image" Target="../media/image-5-2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-7-7.svg"/><Relationship Id="rId13" Type="http://schemas.openxmlformats.org/officeDocument/2006/relationships/image" Target="../media/image18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-7-10.svg"/><Relationship Id="rId5" Type="http://schemas.openxmlformats.org/officeDocument/2006/relationships/image" Target="../media/image-7-4.svg"/><Relationship Id="rId15" Type="http://schemas.openxmlformats.org/officeDocument/2006/relationships/image" Target="../media/image19.png"/><Relationship Id="rId10" Type="http://schemas.openxmlformats.org/officeDocument/2006/relationships/image" Target="../media/image16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Relationship Id="rId14" Type="http://schemas.openxmlformats.org/officeDocument/2006/relationships/image" Target="../media/image-7-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3939" y="2447637"/>
            <a:ext cx="5576154" cy="1465802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6"/>
          <a:srcRect r="3569"/>
          <a:stretch/>
        </p:blipFill>
        <p:spPr>
          <a:xfrm>
            <a:off x="0" y="0"/>
            <a:ext cx="440871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446250"/>
            <a:ext cx="4931176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Зачем </a:t>
            </a:r>
            <a:r>
              <a:rPr lang="en-US" sz="4450" dirty="0" smtClean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миру</a:t>
            </a:r>
            <a:r>
              <a:rPr lang="ru-RU" sz="4450" dirty="0" smtClean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/>
            </a:r>
            <a:br>
              <a:rPr lang="ru-RU" sz="4450" dirty="0" smtClean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</a:br>
            <a:r>
              <a:rPr lang="en-US" sz="4450" dirty="0" smtClean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сертификация </a:t>
            </a:r>
            <a:r>
              <a:rPr lang="en-US" sz="44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ИС?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5233360" y="4111129"/>
            <a:ext cx="6296860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История одного провала, который изменил всё</a:t>
            </a:r>
            <a:endParaRPr lang="en-US" sz="195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029950" y="6547757"/>
            <a:ext cx="1153886" cy="3020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5159829" y="4421188"/>
            <a:ext cx="500470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915861"/>
            <a:ext cx="6296860" cy="668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3250" dirty="0" smtClean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В чём причина?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1976934"/>
            <a:ext cx="6296860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Представьте: 1990-е. В одной крупной западной компании бухгалтер уходит в отпуск. Возвращается — а на его счёте не хватает нескольких миллионов. Никто ничего не украл. Просто коллега без злого умысла запустил не тот отчёт, данные «поехали», и никто не заметил. Компания теряет деньги, репутацию и — что важнее — доверие клиентов.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486051"/>
            <a:ext cx="6296860" cy="99099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93902" y="3670399"/>
            <a:ext cx="585197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Кто виноват?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493902" y="4028083"/>
            <a:ext cx="585197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Человек? Софт? Или система, в которой всё это происходило?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642346"/>
            <a:ext cx="6296860" cy="152023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93902" y="4826695"/>
            <a:ext cx="585197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Ответ индустрии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5493902" y="5184378"/>
            <a:ext cx="585197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Именно поэтому сегодня существует целая индустрия — сертификация информационных систем. Она отвечает на один вопрос: как доказать, что система работает так, как заявлено, и ей можно доверять?</a:t>
            </a:r>
            <a:endParaRPr lang="en-US" sz="13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11029950" y="6547757"/>
            <a:ext cx="1153886" cy="3020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8896" y="3187904"/>
            <a:ext cx="3200348" cy="2249510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129209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Что такое ИС?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1893987"/>
            <a:ext cx="6296860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Вы пользовались ею, когда смотрели расписание в личном кабинете, оплачивали кофе картой, заходили в банк онлайн. </a:t>
            </a:r>
            <a:r>
              <a:rPr lang="en-US" sz="13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ИС — это не что-то в серверной.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Это то, что пронизывает вашу жизнь.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07710" y="3303786"/>
            <a:ext cx="28542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Формальное определение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07710" y="3727549"/>
            <a:ext cx="2854254" cy="1852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Информационная система — это совокупность технических средств, программного обеспечения, данных, людей и регламентов, предназначенная для сбора, хранения, обработки и выдачи информации.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017961" y="3303786"/>
            <a:ext cx="29467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Ключевой момент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017961" y="3727549"/>
            <a:ext cx="2946723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 определении есть </a:t>
            </a:r>
            <a:r>
              <a:rPr lang="en-US" sz="13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люди</a:t>
            </a: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и </a:t>
            </a:r>
            <a:r>
              <a:rPr lang="en-US" sz="13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регламенты</a:t>
            </a: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Это ключ ко всей дисциплине. Сертифицируют не только «железо», но и то, как с ним работают.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793055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Почему системам </a:t>
            </a:r>
            <a:r>
              <a:rPr lang="en-US" sz="3250" dirty="0" smtClean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нельзя</a:t>
            </a:r>
            <a:r>
              <a:rPr lang="ru-RU" sz="3250" dirty="0" smtClean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/>
            </a:r>
            <a:br>
              <a:rPr lang="ru-RU" sz="3250" dirty="0" smtClean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</a:br>
            <a:r>
              <a:rPr lang="en-US" sz="3250" dirty="0" smtClean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верить </a:t>
            </a:r>
            <a:r>
              <a:rPr lang="en-US" sz="32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«на слово»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5233360" y="2074565"/>
            <a:ext cx="3065783" cy="1765796"/>
          </a:xfrm>
          <a:prstGeom prst="roundRect">
            <a:avLst>
              <a:gd name="adj" fmla="val 3934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05005" y="2246213"/>
            <a:ext cx="272249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🔒</a:t>
            </a:r>
            <a:r>
              <a:rPr lang="en-US" sz="16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Страх утечки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05005" y="2610247"/>
            <a:ext cx="272249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Данные граждан, пациентов, клиентов. Утечка = катастрофа.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464437" y="2074565"/>
            <a:ext cx="3065783" cy="1765796"/>
          </a:xfrm>
          <a:prstGeom prst="roundRect">
            <a:avLst>
              <a:gd name="adj" fmla="val 3934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36082" y="2246213"/>
            <a:ext cx="272249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⚠️</a:t>
            </a:r>
            <a:r>
              <a:rPr lang="en-US" sz="16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Страх ошибки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36082" y="2610247"/>
            <a:ext cx="272249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Система посчитала неверно,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 решение принято неправильно — медицина, финансы, транспорт.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233360" y="4005659"/>
            <a:ext cx="6296860" cy="971947"/>
          </a:xfrm>
          <a:prstGeom prst="roundRect">
            <a:avLst>
              <a:gd name="adj" fmla="val 7147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05005" y="4177308"/>
            <a:ext cx="5953571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🔗</a:t>
            </a:r>
            <a:r>
              <a:rPr lang="en-US" sz="16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Страх несовместимости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05005" y="4541341"/>
            <a:ext cx="59535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Системы не «видят» друг друга, и всё рушится.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1401" y="5349677"/>
            <a:ext cx="604881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«Сертификация — это не бюрократия ради бюрократии. Это способ превратить доверие из веры в доказуемый факт.»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233360" y="5163641"/>
            <a:ext cx="19050" cy="901303"/>
          </a:xfrm>
          <a:prstGeom prst="roundRect">
            <a:avLst>
              <a:gd name="adj" fmla="val 49999"/>
            </a:avLst>
          </a:prstGeom>
          <a:solidFill>
            <a:srgbClr val="505468"/>
          </a:solidFill>
          <a:ln/>
        </p:spPr>
      </p:sp>
      <p:sp>
        <p:nvSpPr>
          <p:cNvPr id="15" name="Прямоугольник 14"/>
          <p:cNvSpPr/>
          <p:nvPr/>
        </p:nvSpPr>
        <p:spPr>
          <a:xfrm>
            <a:off x="11029950" y="6547757"/>
            <a:ext cx="1153886" cy="3020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5761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Что такое сертификация ИС?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205038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Сертификация информационной системы</a:t>
            </a: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это процедура независимой оценки соответствия ИС установленным требованиям (стандартам, нормам, законам), по результатам которой выдаётся документ — сертификат соответствия.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920305"/>
            <a:ext cx="3512653" cy="14681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18585" y="3044329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45819" y="3581797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Независимая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45819" y="3939480"/>
            <a:ext cx="314396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Не сам разработчик себя проверяет.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39422" y="2920305"/>
            <a:ext cx="3512752" cy="14681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96532" y="3044329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4523766" y="3581797"/>
            <a:ext cx="3144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Соответствие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23766" y="3939480"/>
            <a:ext cx="31440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Есть эталон, с которым сравнивают.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7468" y="2920305"/>
            <a:ext cx="3512653" cy="14681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74578" y="3044329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8201812" y="3581797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Документ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201812" y="3939480"/>
            <a:ext cx="314396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Результат имеет юридическую силу.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61475" y="4574480"/>
            <a:ext cx="10868745" cy="925909"/>
          </a:xfrm>
          <a:prstGeom prst="roundRect">
            <a:avLst>
              <a:gd name="adj" fmla="val 7502"/>
            </a:avLst>
          </a:prstGeom>
          <a:solidFill>
            <a:srgbClr val="E2E3E9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769" y="4814193"/>
            <a:ext cx="206667" cy="16529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98731" y="4781054"/>
            <a:ext cx="1016619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Аналогия, которая работает:</a:t>
            </a: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Сертификация ИС — это как техосмотр автомобиля. Машина может ехать и без него, но никто не пустит её на дорогу. Так и система: работать может, но доверять ей без проверки — нельзя.</a:t>
            </a:r>
            <a:endParaRPr lang="en-US" sz="1300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11029950" y="6547757"/>
            <a:ext cx="1153886" cy="3020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4647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Карта дисциплины — что будет дальше?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99390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255838"/>
            <a:ext cx="5351725" cy="19050"/>
          </a:xfrm>
          <a:prstGeom prst="rect">
            <a:avLst/>
          </a:prstGeom>
          <a:solidFill>
            <a:srgbClr val="5B5F72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376587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Виды сертификации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2734270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Обязательная и добровольная.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78495" y="199390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8495" y="2255838"/>
            <a:ext cx="5351725" cy="19050"/>
          </a:xfrm>
          <a:prstGeom prst="rect">
            <a:avLst/>
          </a:prstGeom>
          <a:solidFill>
            <a:srgbClr val="5B5F72"/>
          </a:solidFill>
          <a:ln/>
        </p:spPr>
      </p:sp>
      <p:sp>
        <p:nvSpPr>
          <p:cNvPr id="9" name="Text 7"/>
          <p:cNvSpPr/>
          <p:nvPr/>
        </p:nvSpPr>
        <p:spPr>
          <a:xfrm>
            <a:off x="6178495" y="2376587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Стандарты и нормативы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78495" y="2734270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ISO/IEC 27001, ГОСТ, ФСТЭК, ФСБ (для России).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1475" y="328820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1475" y="3533577"/>
            <a:ext cx="5351725" cy="19050"/>
          </a:xfrm>
          <a:prstGeom prst="rect">
            <a:avLst/>
          </a:prstGeom>
          <a:solidFill>
            <a:srgbClr val="5B5F72"/>
          </a:solidFill>
          <a:ln/>
        </p:spPr>
      </p:sp>
      <p:sp>
        <p:nvSpPr>
          <p:cNvPr id="13" name="Text 11"/>
          <p:cNvSpPr/>
          <p:nvPr/>
        </p:nvSpPr>
        <p:spPr>
          <a:xfrm>
            <a:off x="661475" y="3670895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Органы по сертификации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1475" y="4028579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Кто и как проверяет.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8495" y="328820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8495" y="3533577"/>
            <a:ext cx="5351725" cy="19050"/>
          </a:xfrm>
          <a:prstGeom prst="rect">
            <a:avLst/>
          </a:prstGeom>
          <a:solidFill>
            <a:srgbClr val="5B5F72"/>
          </a:solidFill>
          <a:ln/>
        </p:spPr>
      </p:sp>
      <p:sp>
        <p:nvSpPr>
          <p:cNvPr id="17" name="Text 15"/>
          <p:cNvSpPr/>
          <p:nvPr/>
        </p:nvSpPr>
        <p:spPr>
          <a:xfrm>
            <a:off x="6178495" y="3670895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Процедура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78495" y="4028579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Этапы, документы, сроки, стоимость.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1475" y="4582517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1475" y="4811415"/>
            <a:ext cx="5351725" cy="19050"/>
          </a:xfrm>
          <a:prstGeom prst="rect">
            <a:avLst/>
          </a:prstGeom>
          <a:solidFill>
            <a:srgbClr val="5B5F72"/>
          </a:solidFill>
          <a:ln/>
        </p:spPr>
      </p:sp>
      <p:sp>
        <p:nvSpPr>
          <p:cNvPr id="21" name="Text 19"/>
          <p:cNvSpPr/>
          <p:nvPr/>
        </p:nvSpPr>
        <p:spPr>
          <a:xfrm>
            <a:off x="661475" y="4965204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Сертификация защиты информации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1475" y="5322888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Отдельный большой блок.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78495" y="4582517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06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8495" y="4811415"/>
            <a:ext cx="5351725" cy="19050"/>
          </a:xfrm>
          <a:prstGeom prst="rect">
            <a:avLst/>
          </a:prstGeom>
          <a:solidFill>
            <a:srgbClr val="5B5F72"/>
          </a:solidFill>
          <a:ln/>
        </p:spPr>
      </p:sp>
      <p:sp>
        <p:nvSpPr>
          <p:cNvPr id="25" name="Text 23"/>
          <p:cNvSpPr/>
          <p:nvPr/>
        </p:nvSpPr>
        <p:spPr>
          <a:xfrm>
            <a:off x="6178495" y="4965204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Практика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78495" y="5322888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Кейсы, разбор реальных сертификаций.</a:t>
            </a:r>
            <a:endParaRPr lang="en-US" sz="1300" dirty="0"/>
          </a:p>
        </p:txBody>
      </p:sp>
      <p:sp>
        <p:nvSpPr>
          <p:cNvPr id="27" name="Прямоугольник 26"/>
          <p:cNvSpPr/>
          <p:nvPr/>
        </p:nvSpPr>
        <p:spPr>
          <a:xfrm>
            <a:off x="11029950" y="6547757"/>
            <a:ext cx="1153886" cy="3020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869752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Зачем это лично вам?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1634530"/>
            <a:ext cx="629686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Кем бы вы ни стали — разработчиком, аналитиком, безопасником, менеджером, — вы будете работать с системами, которые кто-то должен сертифицировать.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61475" y="2614414"/>
            <a:ext cx="20188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Разработчик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61475" y="2972098"/>
            <a:ext cx="201885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Готовит систему к проверке.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8368" y="2743795"/>
            <a:ext cx="1763073" cy="176311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003128" y="2818557"/>
            <a:ext cx="413434" cy="413445"/>
          </a:xfrm>
          <a:prstGeom prst="ellipse">
            <a:avLst/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16829" y="2932162"/>
            <a:ext cx="186031" cy="1860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39482" y="2614414"/>
            <a:ext cx="20188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Аналитик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4939482" y="2972098"/>
            <a:ext cx="201885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Описывает требования, по которым проверяют.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8368" y="2743795"/>
            <a:ext cx="1763073" cy="1763117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203148" y="2818557"/>
            <a:ext cx="413434" cy="413445"/>
          </a:xfrm>
          <a:prstGeom prst="ellipse">
            <a:avLst/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16850" y="2932162"/>
            <a:ext cx="186031" cy="18603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939482" y="3749377"/>
            <a:ext cx="20188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Безопасник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4939482" y="4107061"/>
            <a:ext cx="201885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Отвечает за соответствие.</a:t>
            </a:r>
            <a:endParaRPr lang="en-US" sz="13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28368" y="2743795"/>
            <a:ext cx="1763073" cy="1763117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4203148" y="4018607"/>
            <a:ext cx="413434" cy="413445"/>
          </a:xfrm>
          <a:prstGeom prst="ellipse">
            <a:avLst/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16850" y="4132213"/>
            <a:ext cx="186031" cy="186035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61475" y="3749377"/>
            <a:ext cx="20188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Менеджер</a:t>
            </a:r>
            <a:endParaRPr lang="en-US" sz="1600" dirty="0"/>
          </a:p>
        </p:txBody>
      </p:sp>
      <p:sp>
        <p:nvSpPr>
          <p:cNvPr id="21" name="Text 12"/>
          <p:cNvSpPr/>
          <p:nvPr/>
        </p:nvSpPr>
        <p:spPr>
          <a:xfrm>
            <a:off x="661475" y="4107061"/>
            <a:ext cx="201885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Планирует и оплачивает.</a:t>
            </a:r>
            <a:endParaRPr lang="en-US" sz="13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28368" y="2743795"/>
            <a:ext cx="1763073" cy="1763117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3003128" y="4018607"/>
            <a:ext cx="413434" cy="413445"/>
          </a:xfrm>
          <a:prstGeom prst="ellipse">
            <a:avLst/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16829" y="4132213"/>
            <a:ext cx="186031" cy="186035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909516" y="5008364"/>
            <a:ext cx="6048819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«Сертификация — это язык, на котором бизнес, государство и технологии договариваются о доверии. Не знать его — значит не понимать, почему одни проекты проходят, а другие умирают.»</a:t>
            </a:r>
            <a:endParaRPr lang="en-US" sz="1300" dirty="0"/>
          </a:p>
        </p:txBody>
      </p:sp>
      <p:sp>
        <p:nvSpPr>
          <p:cNvPr id="26" name="Shape 15"/>
          <p:cNvSpPr/>
          <p:nvPr/>
        </p:nvSpPr>
        <p:spPr>
          <a:xfrm>
            <a:off x="661475" y="4822329"/>
            <a:ext cx="19050" cy="1165920"/>
          </a:xfrm>
          <a:prstGeom prst="roundRect">
            <a:avLst>
              <a:gd name="adj" fmla="val 49999"/>
            </a:avLst>
          </a:prstGeom>
          <a:solidFill>
            <a:srgbClr val="505468"/>
          </a:solidFill>
          <a:ln/>
        </p:spPr>
      </p:sp>
      <p:sp>
        <p:nvSpPr>
          <p:cNvPr id="27" name="Прямоугольник 26"/>
          <p:cNvSpPr/>
          <p:nvPr/>
        </p:nvSpPr>
        <p:spPr>
          <a:xfrm>
            <a:off x="11029950" y="6547757"/>
            <a:ext cx="1153886" cy="3020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3" r="51642"/>
          <a:stretch/>
        </p:blipFill>
        <p:spPr bwMode="auto">
          <a:xfrm>
            <a:off x="7611477" y="8985"/>
            <a:ext cx="4580523" cy="6852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482600"/>
            <a:ext cx="6296860" cy="457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Вопрос на подумать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661475" y="1135162"/>
            <a:ext cx="6296860" cy="1895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Может ли система работать плохо, но быть сертифицированной?</a:t>
            </a:r>
            <a:endParaRPr lang="en-US" sz="3950" dirty="0"/>
          </a:p>
        </p:txBody>
      </p:sp>
      <p:sp>
        <p:nvSpPr>
          <p:cNvPr id="5" name="Text 2"/>
          <p:cNvSpPr/>
          <p:nvPr/>
        </p:nvSpPr>
        <p:spPr>
          <a:xfrm>
            <a:off x="661475" y="3225304"/>
            <a:ext cx="6296860" cy="663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 последнее. Как вы думаете: может ли быть сертифицирована система, которая работает </a:t>
            </a:r>
            <a:r>
              <a:rPr lang="en-US" sz="11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плохо</a:t>
            </a: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</a:t>
            </a:r>
            <a:endParaRPr lang="en-US" sz="11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но соответствует всем </a:t>
            </a:r>
            <a:r>
              <a:rPr lang="en-US" sz="11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формальным требованиям</a:t>
            </a: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?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61475" y="4034433"/>
            <a:ext cx="6296860" cy="1654175"/>
          </a:xfrm>
          <a:prstGeom prst="roundRect">
            <a:avLst>
              <a:gd name="adj" fmla="val 3720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825" y="4040783"/>
            <a:ext cx="6284160" cy="820738"/>
          </a:xfrm>
          <a:custGeom>
            <a:avLst/>
            <a:gdLst/>
            <a:ahLst/>
            <a:cxnLst/>
            <a:rect l="l" t="t" r="r" b="b"/>
            <a:pathLst>
              <a:path w="6284160" h="820738">
                <a:moveTo>
                  <a:pt x="51284" y="0"/>
                </a:moveTo>
                <a:lnTo>
                  <a:pt x="6232876" y="0"/>
                </a:lnTo>
                <a:arcTo wR="51284" hR="51285" stAng="16200000" swAng="5400000"/>
                <a:lnTo>
                  <a:pt x="6284160" y="820738"/>
                </a:lnTo>
                <a:lnTo>
                  <a:pt x="0" y="820738"/>
                </a:lnTo>
                <a:lnTo>
                  <a:pt x="0" y="51285"/>
                </a:lnTo>
                <a:arcTo wR="51284" hR="51285" stAng="10800000" swAng="5400000"/>
                <a:close/>
              </a:path>
            </a:pathLst>
          </a:custGeom>
          <a:solidFill>
            <a:srgbClr val="E2E3E9"/>
          </a:solidFill>
          <a:ln/>
        </p:spPr>
      </p:sp>
      <p:sp>
        <p:nvSpPr>
          <p:cNvPr id="8" name="Text 5"/>
          <p:cNvSpPr/>
          <p:nvPr/>
        </p:nvSpPr>
        <p:spPr>
          <a:xfrm>
            <a:off x="814268" y="4187230"/>
            <a:ext cx="5991274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Формальное соответствие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4268" y="4494014"/>
            <a:ext cx="5991274" cy="221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Все документы в порядке, все чек-листы пройдены, стандарты соблюдены.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67825" y="4861520"/>
            <a:ext cx="6284160" cy="820738"/>
          </a:xfrm>
          <a:custGeom>
            <a:avLst/>
            <a:gdLst/>
            <a:ahLst/>
            <a:cxnLst/>
            <a:rect l="l" t="t" r="r" b="b"/>
            <a:pathLst>
              <a:path w="6284160" h="820738">
                <a:moveTo>
                  <a:pt x="0" y="0"/>
                </a:moveTo>
                <a:lnTo>
                  <a:pt x="6284160" y="0"/>
                </a:lnTo>
                <a:lnTo>
                  <a:pt x="6284160" y="769452"/>
                </a:lnTo>
                <a:arcTo wR="51284" hR="51285" stAng="0" swAng="5400000"/>
                <a:lnTo>
                  <a:pt x="51284" y="820738"/>
                </a:lnTo>
                <a:arcTo wR="51284" hR="51285" stAng="5400000" swAng="5400000"/>
                <a:lnTo>
                  <a:pt x="0" y="0"/>
                </a:lnTo>
                <a:close/>
              </a:path>
            </a:pathLst>
          </a:custGeom>
          <a:solidFill>
            <a:srgbClr val="E2E3E9"/>
          </a:solidFill>
          <a:ln/>
        </p:spPr>
      </p:sp>
      <p:sp>
        <p:nvSpPr>
          <p:cNvPr id="11" name="Shape 8"/>
          <p:cNvSpPr/>
          <p:nvPr/>
        </p:nvSpPr>
        <p:spPr>
          <a:xfrm>
            <a:off x="667825" y="4861520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8C9CF"/>
          </a:solidFill>
          <a:ln/>
        </p:spPr>
      </p:sp>
      <p:sp>
        <p:nvSpPr>
          <p:cNvPr id="12" name="Text 9"/>
          <p:cNvSpPr/>
          <p:nvPr/>
        </p:nvSpPr>
        <p:spPr>
          <a:xfrm>
            <a:off x="814268" y="5007967"/>
            <a:ext cx="5991274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Реальная ценность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14268" y="5314752"/>
            <a:ext cx="5991274" cy="221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Система неудобна, медленна, ошибается — но «по бумагам» всё чисто.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61475" y="5834559"/>
            <a:ext cx="6296860" cy="540841"/>
          </a:xfrm>
          <a:prstGeom prst="roundRect">
            <a:avLst>
              <a:gd name="adj" fmla="val 11379"/>
            </a:avLst>
          </a:prstGeom>
          <a:solidFill>
            <a:srgbClr val="D9D9D9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918" y="6018808"/>
            <a:ext cx="183153" cy="14644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37515" y="6000948"/>
            <a:ext cx="6283962" cy="221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Это главный вопрос, который мы будем разбирать в ходе курса.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636</Words>
  <Application>Microsoft Office PowerPoint</Application>
  <PresentationFormat>Произвольный</PresentationFormat>
  <Paragraphs>83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6" baseType="lpstr">
      <vt:lpstr>Arial</vt:lpstr>
      <vt:lpstr>Calibri</vt:lpstr>
      <vt:lpstr>Instrument Sans Medium</vt:lpstr>
      <vt:lpstr>Noto Color Emoji</vt:lpstr>
      <vt:lpstr>Instrument Sans Bold</vt:lpstr>
      <vt:lpstr>Instrument Sans</vt:lpstr>
      <vt:lpstr>Instrument Sans SemiBold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smg</cp:lastModifiedBy>
  <cp:revision>3</cp:revision>
  <dcterms:created xsi:type="dcterms:W3CDTF">2026-10-01T07:40:18Z</dcterms:created>
  <dcterms:modified xsi:type="dcterms:W3CDTF">2026-10-01T07:56:54Z</dcterms:modified>
</cp:coreProperties>
</file>