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alibri" pitchFamily="34" charset="0"/>
      <p:regular r:id="rId9"/>
      <p:bold r:id="rId10"/>
      <p:italic r:id="rId11"/>
      <p:boldItalic r:id="rId12"/>
    </p:embeddedFont>
    <p:embeddedFont>
      <p:font typeface="Roboto Condensed Bold" charset="0"/>
      <p:regular r:id="rId13"/>
    </p:embeddedFont>
    <p:embeddedFont>
      <p:font typeface="Hubot Sans Bold" charset="0"/>
      <p:regular r:id="rId14"/>
    </p:embeddedFont>
    <p:embeddedFont>
      <p:font typeface="Roboto Condensed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-31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C1537-1454-4540-96D7-6DD03F4240A8}" type="datetimeFigureOut">
              <a:rPr lang="ru-RU" smtClean="0"/>
              <a:t>07.10.2026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689F08-0385-44C4-BB5F-7121BEC13AF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794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8E8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-3-3.sv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3.svg"/><Relationship Id="rId11" Type="http://schemas.openxmlformats.org/officeDocument/2006/relationships/image" Target="../media/image-3-3.svg"/><Relationship Id="rId5" Type="http://schemas.openxmlformats.org/officeDocument/2006/relationships/image" Target="../media/image-3-3.svg"/><Relationship Id="rId4" Type="http://schemas.openxmlformats.org/officeDocument/2006/relationships/image" Target="../media/image6.png"/><Relationship Id="rId9" Type="http://schemas.openxmlformats.org/officeDocument/2006/relationships/image" Target="../media/image-3-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6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4.svg"/><Relationship Id="rId11" Type="http://schemas.openxmlformats.org/officeDocument/2006/relationships/image" Target="../media/image3.png"/><Relationship Id="rId5" Type="http://schemas.openxmlformats.org/officeDocument/2006/relationships/image" Target="../media/image9.png"/><Relationship Id="rId10" Type="http://schemas.openxmlformats.org/officeDocument/2006/relationships/image" Target="../media/image-4-8.svg"/><Relationship Id="rId4" Type="http://schemas.openxmlformats.org/officeDocument/2006/relationships/image" Target="../media/image-4-2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84218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ОБЯЗАТЕЛЬНАЯ VS ДОБРОВОЛЬНАЯ СЕРТИФИКАЦИЯ ИС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752923"/>
            <a:ext cx="6296860" cy="203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 разработали информационную систему для медицинской клиники: электронная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карта пациента. Работает отлично, врачи довольны, пациенты счастливы.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 приходите к заказчику и говорите: «Всё готово, можно запускать».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А он отвечает: </a:t>
            </a:r>
            <a:r>
              <a:rPr lang="en-US" sz="13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«Без сертификата мы её даже не включим».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Вопрос: кто прав?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 — потому что система </a:t>
            </a:r>
            <a:r>
              <a:rPr lang="en-US" sz="13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работает</a:t>
            </a: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?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Или заказчик — потому что есть </a:t>
            </a:r>
            <a:r>
              <a:rPr lang="en-US" sz="13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требования</a:t>
            </a: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?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4977309"/>
            <a:ext cx="6296860" cy="925909"/>
          </a:xfrm>
          <a:prstGeom prst="roundRect">
            <a:avLst>
              <a:gd name="adj" fmla="val 2679"/>
            </a:avLst>
          </a:prstGeom>
          <a:solidFill>
            <a:srgbClr val="E7E7E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69" y="5217021"/>
            <a:ext cx="206667" cy="1652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8731" y="5183882"/>
            <a:ext cx="559430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Есть случаи, когда сертификат — это закон, без него нельзя.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А есть случаи, когда сертификат — это выбор, но очень умный.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2247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ОПРЕДЕЛЕНИЯ:</a:t>
            </a:r>
            <a:endParaRPr lang="en-US" sz="3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В ЧЁМ РАЗНИЦА?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974453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Разница не в процедуре — процедура похожа.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Разница в природе требования: </a:t>
            </a:r>
            <a:r>
              <a:rPr lang="en-US" sz="13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закон против желания.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33360" y="2689721"/>
          <a:ext cx="6296860" cy="3462550"/>
        </p:xfrm>
        <a:graphic>
          <a:graphicData uri="http://schemas.openxmlformats.org/drawingml/2006/table">
            <a:tbl>
              <a:tblPr/>
              <a:tblGrid>
                <a:gridCol w="1574190"/>
                <a:gridCol w="2329869"/>
                <a:gridCol w="2392801"/>
              </a:tblGrid>
              <a:tr h="4789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Критерий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Обязательная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Добровольная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Кто требует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Государство (закон, приказ)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Сам бизнес, заказчик, отрасль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Без неё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Работать нельзя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Работать можно,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но рискованно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7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Кто платит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Тот, кому нужно соответствие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Тот, кто хочет доверия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35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Результат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Сертификат соответствия, обязательный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Сертификат соответствия, добровольный</a:t>
                      </a:r>
                      <a:endParaRPr lang="en-US" sz="130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 useBgFill="1">
        <p:nvSpPr>
          <p:cNvPr id="6" name="Прямоугольник 5"/>
          <p:cNvSpPr/>
          <p:nvPr/>
        </p:nvSpPr>
        <p:spPr>
          <a:xfrm>
            <a:off x="11046279" y="6523265"/>
            <a:ext cx="1129393" cy="3265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18072"/>
            <a:ext cx="6296860" cy="763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ОБЯЗАТЕЛЬНАЯ СЕРТИФИКАЦИЯ:</a:t>
            </a:r>
            <a:endParaRPr lang="en-US" sz="24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ГДЕ ОНА ЕСТЬ?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1475" y="1394321"/>
            <a:ext cx="6906444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Зоны, где государство говорит: </a:t>
            </a:r>
            <a:r>
              <a:rPr lang="en-US" sz="9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без проверки — нельзя.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61475" y="1665486"/>
            <a:ext cx="6296860" cy="7326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6769" y="1917303"/>
            <a:ext cx="1831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1252605" y="1800225"/>
            <a:ext cx="5570993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ЗАЩИТА ИНФОРМАЦИИ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252605" y="2044998"/>
            <a:ext cx="5570993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Системы, работающие с гостайной, персональными данными, критической инфраструктурой.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61475" y="2488208"/>
            <a:ext cx="6296860" cy="7326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6769" y="2740025"/>
            <a:ext cx="1831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252605" y="2622947"/>
            <a:ext cx="5570993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ФИНАНСЫ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252605" y="2867720"/>
            <a:ext cx="5570993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Банковские и платёжные системы — требования ЦБ.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61475" y="3310930"/>
            <a:ext cx="6296860" cy="73263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6769" y="3562747"/>
            <a:ext cx="1831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252605" y="3445669"/>
            <a:ext cx="5570993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МЕДИЦИНА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252605" y="3690441"/>
            <a:ext cx="5570993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Медицинские ИС, работающие с данными пациентов.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61475" y="4133652"/>
            <a:ext cx="6296860" cy="73263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6769" y="4385469"/>
            <a:ext cx="1831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1252605" y="4268391"/>
            <a:ext cx="5570993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ТРАНСПОРТ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1252605" y="4513163"/>
            <a:ext cx="5570993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Системы управления, навигации, безопасности.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661475" y="4956373"/>
            <a:ext cx="6296860" cy="73263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26769" y="5208191"/>
            <a:ext cx="1831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252605" y="5091113"/>
            <a:ext cx="5570993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ГОССЕКТОР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1252605" y="5335885"/>
            <a:ext cx="5570993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Системы госуслуг, государственные ИС.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661475" y="5790406"/>
            <a:ext cx="6296860" cy="571599"/>
          </a:xfrm>
          <a:prstGeom prst="roundRect">
            <a:avLst>
              <a:gd name="adj" fmla="val 3204"/>
            </a:avLst>
          </a:prstGeom>
          <a:solidFill>
            <a:srgbClr val="E7E7E4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511" y="5918398"/>
            <a:ext cx="152595" cy="122039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58141" y="5910957"/>
            <a:ext cx="5778157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Везде, где цена ошибки — жизнь, деньги или безопасность страны, государство не доверяет «на слово».</a:t>
            </a:r>
            <a:endParaRPr lang="en-US" sz="95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Оно требует доказательств.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913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ДОБРОВОЛЬНАЯ СЕРТИФИКАЦИЯ — ЗАЧЕМ ОНА БИЗНЕСУ?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47964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Если не заставляют — зачем сертифицировать?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930301"/>
            <a:ext cx="413434" cy="413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550418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КОНКУРЕНЦИЯ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2908102"/>
            <a:ext cx="53309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Сертификат как знак качества.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«У нас ISO 27001» — это аргумент в тендере.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199132" y="1930301"/>
            <a:ext cx="413434" cy="413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9132" y="2550418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ТРЕБОВАНИЕ ЗАКАЗЧИКА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199132" y="2908102"/>
            <a:ext cx="53310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Крупный заказчик (банк, госкорпорация)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требует сертификат от подрядчика.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3768030"/>
            <a:ext cx="413434" cy="4134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4388148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СТРАХОВКА ОТ КАТАСТРОФЫ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61475" y="4745831"/>
            <a:ext cx="53309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Проверка выявляет дыры до того, как их найдёт злоумышленник.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199132" y="3768030"/>
            <a:ext cx="413434" cy="413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9132" y="4388148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ВЫХОД НА МЕЖДУНАРОДНЫЙ РЫНОК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199132" y="4745831"/>
            <a:ext cx="53310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Без международного сертификата не пустят.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61475" y="5196483"/>
            <a:ext cx="10868745" cy="925909"/>
          </a:xfrm>
          <a:prstGeom prst="roundRect">
            <a:avLst>
              <a:gd name="adj" fmla="val 2679"/>
            </a:avLst>
          </a:prstGeom>
          <a:solidFill>
            <a:srgbClr val="E7E7E4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769" y="5436195"/>
            <a:ext cx="206667" cy="1652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98731" y="5403056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Это как знак «ЭКО» на продуктах. Никто не заставляет производителя его получать.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Но с ним покупают охотнее. Сертификат ИС — тот же знак доверия, только для бизнеса и государства.</a:t>
            </a:r>
            <a:endParaRPr lang="en-US" sz="1300" dirty="0"/>
          </a:p>
        </p:txBody>
      </p:sp>
      <p:sp useBgFill="1">
        <p:nvSpPr>
          <p:cNvPr id="19" name="Прямоугольник 18"/>
          <p:cNvSpPr/>
          <p:nvPr/>
        </p:nvSpPr>
        <p:spPr>
          <a:xfrm>
            <a:off x="11046279" y="6523265"/>
            <a:ext cx="1129393" cy="3265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45904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ПЕРЕСЕЧЕНИЕ:</a:t>
            </a:r>
            <a:endParaRPr lang="en-US" sz="26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 СИСТЕМА — 2 СЕРТИФИКАТА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2297212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Одна и та же система может подлежать и обязательной,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и добровольной сертификации — одновременно, но по разным основаниям.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2415" y="3012480"/>
            <a:ext cx="3184842" cy="2623245"/>
          </a:xfrm>
          <a:prstGeom prst="roundRect">
            <a:avLst>
              <a:gd name="adj" fmla="val 946"/>
            </a:avLst>
          </a:prstGeom>
          <a:solidFill>
            <a:srgbClr val="1E1E1A"/>
          </a:solidFill>
          <a:ln/>
        </p:spPr>
      </p:sp>
      <p:sp>
        <p:nvSpPr>
          <p:cNvPr id="6" name="Text 3"/>
          <p:cNvSpPr/>
          <p:nvPr/>
        </p:nvSpPr>
        <p:spPr>
          <a:xfrm>
            <a:off x="707710" y="3192546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ПРИМЕР: БАНКОВСКАЯ ИС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07710" y="3601541"/>
            <a:ext cx="2854254" cy="1885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Обязательная</a:t>
            </a:r>
            <a:r>
              <a:rPr lang="en-US" sz="130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— по требованиям ЦБ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и защиты персональных данных.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Добровольная</a:t>
            </a:r>
            <a:r>
              <a:rPr lang="en-US" sz="130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— по ISO 27001, чтобы выйти на международный рынок.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Это два разных сертификата на одну систему.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17961" y="3192546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ГЛАВНЫЙ ВЫВОД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17961" y="3601541"/>
            <a:ext cx="294672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Нельзя просто сказать «система сертифицирована» — надо уточнять: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017961" y="4279602"/>
            <a:ext cx="2946723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 какому основанию?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 какому стандарту?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Для какой цели?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39297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ЧТО ДАЛЬШЕ?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874540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Мы разобрались, какие бывают сертификации.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Следующий логичный вопрос: </a:t>
            </a:r>
            <a:r>
              <a:rPr lang="en-US" sz="13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а по каким документам вообще проверяют?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2589808"/>
            <a:ext cx="3065783" cy="1217513"/>
          </a:xfrm>
          <a:prstGeom prst="roundRect">
            <a:avLst>
              <a:gd name="adj" fmla="val 203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398655" y="2755106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КАКИЕ СТАНДАРТЫ?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98655" y="3112790"/>
            <a:ext cx="273519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Какие нормативные документы стоят за обязательной сертификацией?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64437" y="2589808"/>
            <a:ext cx="3065783" cy="1217513"/>
          </a:xfrm>
          <a:prstGeom prst="roundRect">
            <a:avLst>
              <a:gd name="adj" fmla="val 203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629732" y="2755106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КАКИЕ ЗАКОНЫ?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29732" y="3112790"/>
            <a:ext cx="273519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На какие федеральные законы опираются требования государства?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3972620"/>
            <a:ext cx="6296860" cy="952897"/>
          </a:xfrm>
          <a:prstGeom prst="roundRect">
            <a:avLst>
              <a:gd name="adj" fmla="val 260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398655" y="4137918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КАК ПРОВЕРЯЮТ?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98655" y="4495602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Какая процедура стоит за получением сертификата?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1401" y="5297587"/>
            <a:ext cx="665840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«Какие стандарты и законы стоят за обязательной и добровольной сертификацией?»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233360" y="5111552"/>
            <a:ext cx="19050" cy="636687"/>
          </a:xfrm>
          <a:prstGeom prst="roundRect">
            <a:avLst>
              <a:gd name="adj" fmla="val 49999"/>
            </a:avLst>
          </a:prstGeom>
          <a:solidFill>
            <a:srgbClr val="1E1E1A"/>
          </a:solidFill>
          <a:ln/>
        </p:spPr>
      </p:sp>
      <p:sp useBgFill="1">
        <p:nvSpPr>
          <p:cNvPr id="16" name="Прямоугольник 15"/>
          <p:cNvSpPr/>
          <p:nvPr/>
        </p:nvSpPr>
        <p:spPr>
          <a:xfrm>
            <a:off x="11046279" y="6523265"/>
            <a:ext cx="1129393" cy="3265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528</Words>
  <Application>Microsoft Office PowerPoint</Application>
  <PresentationFormat>Произвольный</PresentationFormat>
  <Paragraphs>94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Roboto Condensed Bold</vt:lpstr>
      <vt:lpstr>Hubot Sans Bold</vt:lpstr>
      <vt:lpstr>Roboto Condensed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smg</cp:lastModifiedBy>
  <cp:revision>2</cp:revision>
  <dcterms:created xsi:type="dcterms:W3CDTF">2026-10-07T08:08:15Z</dcterms:created>
  <dcterms:modified xsi:type="dcterms:W3CDTF">2026-10-07T08:10:40Z</dcterms:modified>
</cp:coreProperties>
</file>