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JetBrains Mono"/>
      <ns0:regular ns1:id="rIdFont18"/>
    </ns0:embeddedFont>
    <ns0:embeddedFont>
      <ns0:font typeface="PT Serif"/>
      <ns0:bold ns1:id="rIdFont19"/>
    </ns0:embeddedFon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09b9b634-3112-4c1a-abeb-b518c2f08b1c.fntdata" /><ns0:Relationship Id="rIdFont19" Type="http://schemas.openxmlformats.org/officeDocument/2006/relationships/font" Target="fonts/078405cb-0ac2-4adb-85b3-8af2096eb084.fntdata" /><ns0:Relationship Id="rIdFont20" Type="http://schemas.openxmlformats.org/officeDocument/2006/relationships/font" Target="fonts/542b96a2-41e4-49c7-ae80-fd3fd2cc4572.fntdata" /><ns0:Relationship Id="rIdFont21" Type="http://schemas.openxmlformats.org/officeDocument/2006/relationships/font" Target="fonts/838eda57-8295-412d-9943-897c9258741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4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583310"/>
            <a:ext cx="17145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4583310"/>
            <a:ext cx="1524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5825" y="2103239"/>
            <a:ext cx="11306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Inter"/>
              </a:rPr>
              <a:t>ЛЕКЦИОННЫЙ КУРС «ПРОЕКТИРОВАНИЕ И ЭКСПЛУАТАЦИЯ СУБД»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446139"/>
            <a:ext cx="11306175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PT Serif"/>
              </a:rPr>
              <a:t>Целостность баз данных:</a:t>
            </a:r>
            <a:r>
              <a:t>
</a:t>
            </a:r>
            <a:r>
              <a:rPr b="1" sz="3450" i="0" u="none">
                <a:solidFill>
                  <a:srgbClr val="FFFFFF"/>
                </a:solidFill>
                <a:latin typeface="PT Serif"/>
              </a:rPr>
              <a:t> концепции, методы и объекты СУБД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687960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Теоретические основы обеспечения достоверности данных, декларативные ограничения, процедурные механизмы и транзакционная согласованность.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564260"/>
            <a:ext cx="2286000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Реляционная 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425" y="4564260"/>
            <a:ext cx="4179093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Декларативный и процедурный контроль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59959" y="1219200"/>
            <a:ext cx="4522440" cy="241935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219200"/>
            <a:ext cx="6069359" cy="1857375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98084" y="1790700"/>
            <a:ext cx="4046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084" y="198120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084" y="25146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084" y="304800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1. Понятие целостности данных (Data Integrity)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8084" y="1457325"/>
            <a:ext cx="434851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T Serif"/>
              </a:rPr>
              <a:t>Цели обеспечения целостности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457325"/>
            <a:ext cx="73409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PT Serif"/>
              </a:rPr>
              <a:t>Формальное определение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809750"/>
            <a:ext cx="568835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Целостность базы данных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— это актуальное состояние БД, при котором содержащиеся в ней данные корректны, непротиворечивы и полностью соответствуют правилам предметной области (предикатам целостности).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67075"/>
            <a:ext cx="616460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Семантическая корректность: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значения полей соответствуют реальным физическим или бизнес-ограничениям (например, возраст &gt; 0, дата продажи ≤ текущей даты).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120157"/>
            <a:ext cx="616460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Структурная согласованность: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отсутствие разорванных связей между таблицами (аномалий) при операциях модификации.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733329"/>
            <a:ext cx="616460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Автоматическое соблюдение: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СУБД отклоняет любые операции (INSERT, UPDATE, DELETE), нарушающие заданные правила.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2884" y="1952625"/>
            <a:ext cx="38366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Исключение «мусорных» данных и дубликатов на уровне ядра СУБД.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2884" y="2486025"/>
            <a:ext cx="38366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Снижение объема проверочного кода на стороне клиентских приложений.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2884" y="3019425"/>
            <a:ext cx="38366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Защита от некорректных действий пользователей и сторонних сервисов.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804987"/>
            <a:ext cx="10972800" cy="38576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804987"/>
          <a:ext cx="10963273" cy="3857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11908"/>
                <a:gridCol w="4165996"/>
                <a:gridCol w="4385369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Уровень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Сущность правила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Механизм реализации в SQL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Inter"/>
                        </a:rPr>
                        <a:t>Сущностная (Entity)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Каждая строка таблицы должна быть уникально идентифицируема. Запрещены дубликаты первичных ключей.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PRIMARY KEY</a:t>
                      </a:r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, </a:t>
                      </a:r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UNIQUE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Inter"/>
                        </a:rPr>
                        <a:t>Ссылочная (Referential)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Внешний ключ в дочерней таблице должен указывать на существующий первичный ключ в родительской либо иметь значение NULL.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FOREIGN KEY ... REFERENCES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Inter"/>
                        </a:rPr>
                        <a:t>Доменная (Domain)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Значение атрибута должно входить в допустимый диапазон значений (тип данных, формат, диапазон).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NOT NULL</a:t>
                      </a:r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, </a:t>
                      </a:r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CHECK</a:t>
                      </a:r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, типы данных, </a:t>
                      </a:r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DEFAULT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Inter"/>
                        </a:rPr>
                        <a:t>Пользовательская (User-defined)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Специфические бизнес-правила, охватывающие несколько таблиц или сложные зависимости атрибутов.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1E3A8A"/>
                          </a:solidFill>
                          <a:latin typeface="Inter"/>
                        </a:rPr>
                        <a:t>TRIGGER</a:t>
                      </a:r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, хранимые процедуры, функции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2. Четыре уровня целостности в реляционной модели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19200"/>
            <a:ext cx="5334000" cy="5181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219200"/>
            <a:ext cx="5334000" cy="518160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391275"/>
            <a:ext cx="5334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19200"/>
            <a:ext cx="5334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219200"/>
            <a:ext cx="9525" cy="5181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4075" y="1219200"/>
            <a:ext cx="9525" cy="5181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5591175"/>
            <a:ext cx="4857750" cy="5715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6391275"/>
            <a:ext cx="5334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1219200"/>
            <a:ext cx="5334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1219200"/>
            <a:ext cx="9525" cy="5181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1219200"/>
            <a:ext cx="9525" cy="51816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86525" y="5762625"/>
            <a:ext cx="4857750" cy="40005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4650" y="2109787"/>
            <a:ext cx="1257300" cy="2476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3. Стратегии обеспечения: Декларативная vs Процедурная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5705475"/>
            <a:ext cx="4724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Inter"/>
              </a:rPr>
              <a:t>ALTER TABLE Orders ADD CONSTRAINT chk_amount CHECK (amount &gt; 0);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5876925"/>
            <a:ext cx="472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Inter"/>
              </a:rPr>
              <a:t>CREATE TRIGGER trg_check_credit BEFORE INSERT ON Orders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1485900"/>
            <a:ext cx="63757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T Serif"/>
              </a:rPr>
              <a:t>Стратегия 1: Декларативный подход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1876425"/>
            <a:ext cx="4953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Правила описываются непосредственно в структуре схемы БД при создании таблиц ().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1485900"/>
            <a:ext cx="5705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PT Serif"/>
              </a:rPr>
              <a:t>Стратегия 2: Процедурный подход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1876425"/>
            <a:ext cx="4953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Правила реализуются через программные объекты базы данных (триггеры, функции, хранимые процедуры).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128837"/>
            <a:ext cx="14573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JetBrains Mono"/>
              </a:rPr>
              <a:t>CREATE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975" y="25003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2514600"/>
            <a:ext cx="5834062" cy="1905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Высочайшее быстродействие (оптимизировано СУБД).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27670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" y="2781300"/>
            <a:ext cx="5834062" cy="1905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Простота документирования и поддержки.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975" y="30337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048000"/>
            <a:ext cx="4762500" cy="3810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Гарантированное исполнение вне зависимости от клиента.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1775" y="25003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7025" y="2514600"/>
            <a:ext cx="4762500" cy="3810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Позволяет закладывать сложную межтабличную бизнес-логику.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1775" y="29575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025" y="2971800"/>
            <a:ext cx="5514975" cy="19050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Возможность логирования попыток нарушения.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1775" y="3224212"/>
            <a:ext cx="95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7025" y="3238500"/>
            <a:ext cx="4762500" cy="3810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Inter"/>
              </a:rPr>
              <a:t>Требует аккуратности: возможна потеря производительности.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01780" y="2338536"/>
            <a:ext cx="4480619" cy="2790527"/>
          </a:xfrm>
          <a:prstGeom prst="roundRect">
            <a:avLst>
              <a:gd name="adj" fmla="val 27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781175"/>
            <a:ext cx="6149280" cy="876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90825"/>
            <a:ext cx="6149280" cy="876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800475"/>
            <a:ext cx="6149280" cy="876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810125"/>
            <a:ext cx="6149280" cy="876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781175"/>
            <a:ext cx="38100" cy="876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790825"/>
            <a:ext cx="38100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800475"/>
            <a:ext cx="38100" cy="8763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810125"/>
            <a:ext cx="38100" cy="8763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4. Декларативные объекты целостности (Constraints)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2280" y="2529036"/>
            <a:ext cx="4194869" cy="2409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E2E8F0"/>
                </a:solidFill>
                <a:latin typeface="Inter"/>
              </a:rPr>
              <a:t>CREATE TABLE Employees ( emp_id INT PRIMARY KEY, email VARCHAR(100) UNIQUE NOT NULL, salary NUMERIC(10,2) CHECK (salary &gt; 0), dept_id INT, CONSTRAINT fk_dept FOREIGN KEY (dept_id) REFERENCES Departments(dept_id) ON DELETE RESTRICT );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2280" y="2529036"/>
            <a:ext cx="4899719" cy="1794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-- Пример DDL со всеми ограничениями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2280" y="2784723"/>
            <a:ext cx="4194869" cy="215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E2E8F0"/>
                </a:solidFill>
                <a:latin typeface="JetBrains Mono"/>
              </a:rPr>
              <a:t>CREATE TABLE Employees ( emp_id INT PRIMARY KEY, email VARCHAR(100) UNIQUE NOT NULL, salary NUMERIC(10,2) CHECK (salary &gt; 0), dept_id INT, CONSTRAINT fk_dept FOREIGN KEY (dept_id) REFERENCES Departments(dept_id) ON DELETE RESTRICT 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895475"/>
            <a:ext cx="7620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PRIMARY KEY (Первичный ключ)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162175"/>
            <a:ext cx="59016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Обеспечивает сущностную целостность. Автоматически накладывает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UNIQUE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и 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NOT NULL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905125"/>
            <a:ext cx="7620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FOREIGN KEY (Внешний ключ)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171825"/>
            <a:ext cx="59016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Ограничение ссылочной целостности. Связывает атрибут дочерней таблицы с ключевым атрибутом родительской.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914775"/>
            <a:ext cx="7620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CHECK (Проверка условия)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181475"/>
            <a:ext cx="59016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Задает логическое выражение, которому должны удовлетворять вставляемые или обновляемые значения.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924425"/>
            <a:ext cx="7620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UNIQUE и NOT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5191125"/>
            <a:ext cx="590163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Запрещают дублирование значений в столбце и присутствие неопределенных значений (NULL).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53579"/>
            <a:ext cx="5584626" cy="1640085"/>
          </a:xfrm>
          <a:prstGeom prst="roundRect">
            <a:avLst>
              <a:gd name="adj" fmla="val 46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84165"/>
            <a:ext cx="5584626" cy="1640085"/>
          </a:xfrm>
          <a:prstGeom prst="roundRect">
            <a:avLst>
              <a:gd name="adj" fmla="val 464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14751"/>
            <a:ext cx="5584626" cy="1413420"/>
          </a:xfrm>
          <a:prstGeom prst="roundRect">
            <a:avLst>
              <a:gd name="adj" fmla="val 53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126" y="1981200"/>
            <a:ext cx="5045273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651" y="1990725"/>
            <a:ext cx="5026223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491704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322290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152876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5. Процедурные объекты: Триггеры и Хранимые процедуры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453604"/>
            <a:ext cx="6804756" cy="2571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PT Serif"/>
              </a:rPr>
              <a:t>Триггеры (Triggers)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786979"/>
            <a:ext cx="5279826" cy="906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Программы, автоматически вызываемые СУБД при наступлении событий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BEFORE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/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AFTER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для DML-операций (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INSERT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UPDATE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DELETE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). Позволяют генерировать ошибки и откатывать транзакции.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284190"/>
            <a:ext cx="6804756" cy="25717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PT Serif"/>
              </a:rPr>
              <a:t>Хранимые процедуры и функции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617565"/>
            <a:ext cx="5279826" cy="906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Инкапсулируют комплексные операции модификации данных. Доступ к базовым таблицам напрямую закрывается, а пользователи работают только через проверенные процедурные интерфейсы.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114776"/>
            <a:ext cx="6804756" cy="2571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PT Serif"/>
              </a:rPr>
              <a:t>Представления с </a:t>
            </a:r>
            <a:r>
              <a:rPr b="1" sz="1275" i="0" u="none">
                <a:solidFill>
                  <a:srgbClr val="1E3A8A"/>
                </a:solidFill>
                <a:latin typeface="PT Serif"/>
              </a:rPr>
              <a:t>WITH CHECK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448151"/>
            <a:ext cx="5279826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Запрещают изменять или вставлять строки через представление, если результат изменения не попадает в выборку данного представления.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67325" y="1047750"/>
            <a:ext cx="1057275" cy="2571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48600" y="1047750"/>
            <a:ext cx="1057275" cy="2571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714500"/>
            <a:ext cx="5391150" cy="234315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1714500"/>
            <a:ext cx="5391150" cy="234315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248150"/>
            <a:ext cx="5391150" cy="2152650"/>
          </a:xfrm>
          <a:prstGeom prst="roundRect">
            <a:avLst>
              <a:gd name="adj" fmla="val 265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4248150"/>
            <a:ext cx="5391150" cy="2152650"/>
          </a:xfrm>
          <a:prstGeom prst="roundRect">
            <a:avLst>
              <a:gd name="adj" fmla="val 265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5350" y="1928812"/>
            <a:ext cx="1095375" cy="209550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20225" y="1928812"/>
            <a:ext cx="1962150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8175" y="4462462"/>
            <a:ext cx="1352550" cy="209550"/>
          </a:xfrm>
          <a:prstGeom prst="roundRect">
            <a:avLst>
              <a:gd name="adj" fmla="val 18181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67875" y="4462462"/>
            <a:ext cx="1714500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6. Реакции на изменение внешних ключей (Referential Actions)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66800"/>
            <a:ext cx="11068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Определяют поведение СУБД при попытке удаления () или изменения () записи в родительской таблице, на которую ссылаются дочерние строки: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4475" y="1066800"/>
            <a:ext cx="10382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ON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1066800"/>
            <a:ext cx="10382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JetBrains Mono"/>
              </a:rPr>
              <a:t>ON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228850"/>
            <a:ext cx="5086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СУБД блокирует удаление/изменение родительской записи и выдает ошибку, пока есть хотя бы одна связанная дочерняя строка.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228850"/>
            <a:ext cx="5086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Операция автоматически распространяется на дочерние таблицы: при удалении клиента каскадно удаляются все его заказы.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762500"/>
            <a:ext cx="508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При удалении родительской записи значение внешнего ключа в дочерних строках автоматически заменяется на NULL.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762500"/>
            <a:ext cx="5086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Внешнему ключу в дочерних строках присваивается заранее заданное значение по умолчанию (DEFAULT).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1914525"/>
            <a:ext cx="2700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B91C1C"/>
                </a:solidFill>
                <a:latin typeface="PT Serif"/>
              </a:rPr>
              <a:t>RESTRICT / NO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1550" y="1957387"/>
            <a:ext cx="1038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Inter"/>
              </a:rPr>
              <a:t>По умолчанию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1914525"/>
            <a:ext cx="118014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3A8A"/>
                </a:solidFill>
                <a:latin typeface="PT Serif"/>
              </a:rPr>
              <a:t>CASCADE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6425" y="1957387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Каскадное каскадирование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448175"/>
            <a:ext cx="1200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47857"/>
                </a:solidFill>
                <a:latin typeface="PT Serif"/>
              </a:rPr>
              <a:t>SET 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4375" y="4491037"/>
            <a:ext cx="129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65F46"/>
                </a:solidFill>
                <a:latin typeface="Inter"/>
              </a:rPr>
              <a:t>Обнуление ссылки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275" y="4448175"/>
            <a:ext cx="15501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D97706"/>
                </a:solidFill>
                <a:latin typeface="PT Serif"/>
              </a:rPr>
              <a:t>SET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4075" y="4491037"/>
            <a:ext cx="1657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Inter"/>
              </a:rPr>
              <a:t>Значение по умолчанию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90837"/>
            <a:ext cx="2600325" cy="207645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867025"/>
            <a:ext cx="2600325" cy="2124075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867025"/>
            <a:ext cx="2600325" cy="2124075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867025"/>
            <a:ext cx="2600325" cy="2124075"/>
          </a:xfrm>
          <a:prstGeom prst="roundRect">
            <a:avLst>
              <a:gd name="adj" fmla="val 26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7. Динамическая целостность: Транзакции и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Целостность должна сохраняться не только в статике, но и в процессе многопользовательской модификации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090862"/>
            <a:ext cx="2750343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T Serif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576637"/>
            <a:ext cx="28878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Atomicity (Атомарность)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62387"/>
            <a:ext cx="2295525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Транзакция выполняется полностью либо не выполняется вообще. Промежуточные состояния недопустимы.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067050"/>
            <a:ext cx="2750343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59669"/>
                </a:solidFill>
                <a:latin typeface="PT Serif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552825"/>
            <a:ext cx="2410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Consistency (Согласованность)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4067175"/>
            <a:ext cx="2295525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Фиксация транзакции возможна только при полном соблюдении всех ограничений целостности.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067050"/>
            <a:ext cx="2750343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PT Serif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552825"/>
            <a:ext cx="2410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Isolation (Изолированность)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4067175"/>
            <a:ext cx="2295525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Параллельные транзакции не должны влиять на промежуточные данные друг друга (уровни изоляции).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067050"/>
            <a:ext cx="2750343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7C3AED"/>
                </a:solidFill>
                <a:latin typeface="PT Serif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3552825"/>
            <a:ext cx="24103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T Serif"/>
              </a:rPr>
              <a:t>Durability (Долговечность)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2100" y="4067175"/>
            <a:ext cx="2295525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Если транзакция зафиксирована (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COMMIT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), ее результаты не будут утеряны даже при сбое системы.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9715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09800"/>
            <a:ext cx="342900" cy="352425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67050"/>
            <a:ext cx="371475" cy="352425"/>
          </a:xfrm>
          <a:prstGeom prst="roundRect">
            <a:avLst>
              <a:gd name="adj" fmla="val 1081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24300"/>
            <a:ext cx="381000" cy="352425"/>
          </a:xfrm>
          <a:prstGeom prst="roundRect">
            <a:avLst>
              <a:gd name="adj" fmla="val 1081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772025"/>
            <a:ext cx="381000" cy="352425"/>
          </a:xfrm>
          <a:prstGeom prst="roundRect">
            <a:avLst>
              <a:gd name="adj" fmla="val 1081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T Serif"/>
              </a:rPr>
              <a:t>8. Практические рекомендации по проектированию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228600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143250"/>
            <a:ext cx="2000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000500"/>
            <a:ext cx="209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4848225"/>
            <a:ext cx="209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2209800"/>
            <a:ext cx="110680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T Serif"/>
              </a:rPr>
              <a:t>Приоритет декларативным ограничениям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2505075"/>
            <a:ext cx="10553700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Всегда используйте встроенные механизмы СУБД (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PRIMARY KEY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FOREIGN KEY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CHECK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) перед написанием триггеров или логики на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3067050"/>
            <a:ext cx="110394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T Serif"/>
              </a:rPr>
              <a:t>Осторожность с каскадными удалениями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362325"/>
            <a:ext cx="1052512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Применяйте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ON DELETE CASCADE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с осмотрительностью, чтобы случайно не удалить крупные массивы критически важных исторических данных.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924300"/>
            <a:ext cx="110299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T Serif"/>
              </a:rPr>
              <a:t>Использование суррогатных и естественных ключей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219575"/>
            <a:ext cx="10515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Для связей между таблицами отдавайте предпочтение стабильным первичным ключам (UUID, BigInt), не меняющимся со временем.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4772025"/>
            <a:ext cx="110299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T Serif"/>
              </a:rPr>
              <a:t>Оптимизация производительности триггеров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5067300"/>
            <a:ext cx="11029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Избегайте тяжелых сетевых и дисковых операций внутри триггеров, чтобы не блокировать параллельные транзакции.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38625"/>
            <a:ext cx="10972800" cy="2009775"/>
          </a:xfrm>
          <a:prstGeom prst="roundRect">
            <a:avLst>
              <a:gd name="adj" fmla="val 37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55295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Inter"/>
              </a:rPr>
              <a:t>ПОДВЕДЕНИЕ ИТОГОВ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115824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T Serif"/>
              </a:rPr>
              <a:t>Резюме и вопросы 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19250"/>
            <a:ext cx="86677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CBD5E1"/>
                </a:solidFill>
                <a:latin typeface="Inter"/>
              </a:rPr>
              <a:t>Надежность информационной системы базируется на сочетании декларативных ограничений схемы, процедурного контроля сложных правил и транзакционной изоляции ACID.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514850"/>
            <a:ext cx="11306175" cy="2571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0A5FA"/>
                </a:solidFill>
                <a:latin typeface="PT Serif"/>
              </a:rPr>
              <a:t>Контрольные вопросы: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910137"/>
            <a:ext cx="114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924425"/>
            <a:ext cx="11077575" cy="19050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В чем разница между сущностной и ссылочной целостностью?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5195887"/>
            <a:ext cx="142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5210175"/>
            <a:ext cx="11077575" cy="190500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Когда предпочтительнее использовать триггеры вместо ограничений CHECK?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5481637"/>
            <a:ext cx="15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5495925"/>
            <a:ext cx="11077575" cy="19050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Какое поведение реализуется при стратегиях RESTRICT и SET NULL?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5767387"/>
            <a:ext cx="142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5781675"/>
            <a:ext cx="11077575" cy="190500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2E8F0"/>
                </a:solidFill>
                <a:latin typeface="Inter"/>
              </a:rPr>
              <a:t>Как свойство Consistency в ACID связано с ограничениями целостности?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91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06275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T Serif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62037"/>
            <a:ext cx="8096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https://cdn-images.visual-paradigm.com/guide/data-modeling/what-is-erd/01-entity-relationship-diagram.png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62062"/>
            <a:ext cx="3167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www.visual-paradigm.com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