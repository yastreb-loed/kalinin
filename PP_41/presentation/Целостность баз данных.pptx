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b44701eb-55ff-4d5d-8118-1a14a1c4927b.fntdata" /><ns0:Relationship Id="rIdFont19" Type="http://schemas.openxmlformats.org/officeDocument/2006/relationships/font" Target="fonts/47e2db42-c70c-41ae-b3c0-0a49e44f523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41515"/>
            <a:ext cx="381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06947"/>
            <a:ext cx="4643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4B8A6"/>
                </a:solidFill>
                <a:latin typeface="Inter"/>
              </a:rPr>
              <a:t>АРХИТЕКТУРА И ПРОЕКТИРОВАНИЕ БД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4984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Целостность баз данных: понятия, стратегии и объекты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17577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Фундаментальные принципы обеспечения достоверности, непротиворечивости и корректности информации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4670077"/>
            <a:ext cx="1690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Учебный материал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8514"/>
            <a:ext cx="5257800" cy="124182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398514"/>
            <a:ext cx="38100" cy="1241821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76450"/>
            <a:ext cx="52578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76450"/>
            <a:ext cx="52578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83223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35673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988123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БАЗОВЫЕ ПОНЯТИЯ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Что такое целостность данных?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627114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Определение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31914"/>
            <a:ext cx="4857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Соответствие имеющейся информации её логике, структуре и правилам предметной области.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868935"/>
            <a:ext cx="5029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Inter"/>
              </a:rPr>
              <a:t>Достоверность:</a:t>
            </a:r>
            <a:r>
              <a:rPr b="1" sz="1500" i="0" u="none">
                <a:solidFill>
                  <a:srgbClr val="0D9488"/>
                </a:solidFill>
                <a:latin typeface="Inter"/>
              </a:rPr>
              <a:t> Защита от случайных искажений и неверного ввода.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421385"/>
            <a:ext cx="5029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Inter"/>
              </a:rPr>
              <a:t>Согласованность:</a:t>
            </a:r>
            <a:r>
              <a:rPr b="1" sz="1500" i="0" u="none">
                <a:solidFill>
                  <a:srgbClr val="0D9488"/>
                </a:solidFill>
                <a:latin typeface="Inter"/>
              </a:rPr>
              <a:t> Отсутствие противоречий между связанными записями.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973835"/>
            <a:ext cx="5029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D9488"/>
                </a:solidFill>
                <a:latin typeface="Inter"/>
              </a:rPr>
              <a:t>Устойчивость:</a:t>
            </a:r>
            <a:r>
              <a:rPr b="1" sz="1500" i="0" u="none">
                <a:solidFill>
                  <a:srgbClr val="0D9488"/>
                </a:solidFill>
                <a:latin typeface="Inter"/>
              </a:rPr>
              <a:t> Сохранение корректности при любых модификациях.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9900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09900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09900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09900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28612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328612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28612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328612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400425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937" y="3400425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40042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340042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КЛАССИФИКАЦИЯ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Четыре уровня целостности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819525"/>
            <a:ext cx="28878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Сущностная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124325"/>
            <a:ext cx="2295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Уникальность строк таблиц.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450" y="3819525"/>
            <a:ext cx="28878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Ссылочная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450" y="4124325"/>
            <a:ext cx="2295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Корректность внешних ключей.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819525"/>
            <a:ext cx="28878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Доменная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4124325"/>
            <a:ext cx="2295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Допустимость значений столбцов.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819525"/>
            <a:ext cx="28878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Пользовательская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4124325"/>
            <a:ext cx="2295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Специфичные бизнес-правила.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4100"/>
            <a:ext cx="531495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424112"/>
            <a:ext cx="5314950" cy="2924175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57475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757487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УГРОЗЫ И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Причины нарушения целостности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2638425"/>
            <a:ext cx="5830728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E11D48"/>
                </a:solidFill>
                <a:latin typeface="Inter"/>
              </a:rPr>
              <a:t>Источники нарушений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6575" y="2738437"/>
            <a:ext cx="5305425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Последствия для системы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76575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Ошибки ПО: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Некорректный код клиентских приложений.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629025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Аппаратные сбои: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Внезапные отключения питания и сбои дисков.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81475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Человеческий фактор: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Ошибки при ручном вводе и удалении.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733925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Параллелизм: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Конфликты одновременных транзакций.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176587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Потеря «сиротских» записей: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Потеря связи между таблицами.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729037"/>
            <a:ext cx="561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Некорректные отчеты: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Ошибки в бизнес-аналитике.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081462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Аномалии данных: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Аномалии вставки, обновления и удаления.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633912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Отказ бизнес-логики: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Краш сервисов из-за невалидных данных.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90862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90862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СТРАТЕГИИ ЗАЩИТЫ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Три уровня стратегий обеспечения целостности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05187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01. ДЕКЛАРАТИВНАЯ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43312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На уровне СУБД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05262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Встроенные ограничения схемы данных.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405187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02. ПРОЦЕДУРНАЯ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643312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Код в базе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4005262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Триггеры и хранимые процедуры.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405187"/>
            <a:ext cx="3786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03. ПРИКЛАДНАЯ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43312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Уровень приложения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4005262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Проверка валидности в backend-коде.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5562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00437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05312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595562"/>
            <a:ext cx="47625" cy="7715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7000" y="2843212"/>
            <a:ext cx="1066800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500437"/>
            <a:ext cx="47625" cy="771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72725" y="3748087"/>
            <a:ext cx="981075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405312"/>
            <a:ext cx="47625" cy="7715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0350" y="4652962"/>
            <a:ext cx="933450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ОБЪЕКТЫ БД — 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Декларативные объекты целостности (Constraints)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1300" y="2900362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Сущностная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7025" y="3805237"/>
            <a:ext cx="8477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Ссылочная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34650" y="4710112"/>
            <a:ext cx="800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Доменная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767012"/>
            <a:ext cx="73259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PRIMARY KEY (Первичный ключ)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005137"/>
            <a:ext cx="6977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Гарантирует уникальность и запрещает NULL для идентификатора строки.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671887"/>
            <a:ext cx="71508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FOREIGN KEY (Внешний ключ)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910012"/>
            <a:ext cx="6810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Связывает таблицы и обеспечивает существование ссылочных записей.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576762"/>
            <a:ext cx="6925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CHECK &amp; NOT NULL / 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814887"/>
            <a:ext cx="6596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Проверяет диапазоны значений, запрещает пустые поля и дубликаты.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05041" y="2020341"/>
            <a:ext cx="5777358" cy="1129605"/>
          </a:xfrm>
          <a:prstGeom prst="roundRect">
            <a:avLst>
              <a:gd name="adj" fmla="val 101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05041" y="3321397"/>
            <a:ext cx="5777358" cy="1129605"/>
          </a:xfrm>
          <a:prstGeom prst="roundRect">
            <a:avLst>
              <a:gd name="adj" fmla="val 101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05041" y="4622452"/>
            <a:ext cx="5777358" cy="1129605"/>
          </a:xfrm>
          <a:prstGeom prst="roundRect">
            <a:avLst>
              <a:gd name="adj" fmla="val 101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24341" y="5108227"/>
            <a:ext cx="1571922" cy="20955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71700"/>
            <a:ext cx="4814441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71700"/>
            <a:ext cx="4814441" cy="3429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066" y="2239416"/>
            <a:ext cx="16192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066" y="3540472"/>
            <a:ext cx="2286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5066" y="4841527"/>
            <a:ext cx="20002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ОБЪЕКТЫ БД — ПРОЦЕДУРЫ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Процедурные объекты контроля целостности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5066" y="2220366"/>
            <a:ext cx="6186933" cy="219075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Триггеры (Triggers)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5066" y="2496591"/>
            <a:ext cx="5472558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Автоматически исполняемый код при INSERT, UPDATE или DELETE для сложных проверок.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5066" y="3521422"/>
            <a:ext cx="6186933" cy="2190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Хранимые процедуры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5066" y="3797647"/>
            <a:ext cx="5472558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Изоляция прямого доступа к таблицам и выполнение операций через проверенные алгоритмы.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5066" y="4822477"/>
            <a:ext cx="6186933" cy="219075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Представления (Views)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5066" y="5098702"/>
            <a:ext cx="5472558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Использование опции для ограничения модификации данных.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1491" y="5127277"/>
            <a:ext cx="18506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0F172A"/>
                </a:solidFill>
                <a:latin typeface="monospace"/>
              </a:rPr>
              <a:t>WITH CHECK 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8975"/>
            <a:ext cx="26289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228975"/>
            <a:ext cx="26289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228975"/>
            <a:ext cx="26289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228975"/>
            <a:ext cx="26289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57200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28975"/>
            <a:ext cx="26289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8975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0900" y="457200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900" y="3228975"/>
            <a:ext cx="26289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900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275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57200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228975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91575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53500" y="457200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3500" y="3228975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3500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3228975"/>
            <a:ext cx="9525" cy="1352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ССЫЛОЧНЫЕ ДЕЙСТВИЯ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Стратегии реакции на изменение внешних ключей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34956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RESTRICT / NO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77190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Запрет удаления родительской записи при наличии зависимостей.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2825" y="34956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CASCADE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2825" y="377190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Автоматическое удаление или обновление связанных дочерних строк.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34956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SET NULL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4125" y="377190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Установка значения NULL во внешнем ключе при удалении родителя.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5425" y="34956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SET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5425" y="377190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Присвоение значения по умолчанию дочерним записям.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2600325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09887"/>
            <a:ext cx="2600325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09887"/>
            <a:ext cx="2600325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909887"/>
            <a:ext cx="2600325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ДИНАМИЧЕСКАЯ ЦЕЛОСТНОСТЬ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Транзакции и принципы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590" y="3186112"/>
            <a:ext cx="2750343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0D9488"/>
                </a:solidFill>
                <a:latin typeface="Inter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32" y="3738562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Atomicity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590" y="4014787"/>
            <a:ext cx="27503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Атомарность: выполнено всё или ничего.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5415" y="3186112"/>
            <a:ext cx="2750343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0284C7"/>
                </a:solidFill>
                <a:latin typeface="Inter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6657" y="3738562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5415" y="4014787"/>
            <a:ext cx="27503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Согласованность: перевод из одного корректного состояния в другое.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6240" y="3186112"/>
            <a:ext cx="2750343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D97706"/>
                </a:solidFill>
                <a:latin typeface="Inter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7482" y="3738562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6240" y="4014787"/>
            <a:ext cx="27503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Изолированность: независимость параллельных операций.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7065" y="3186112"/>
            <a:ext cx="2750343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9333EA"/>
                </a:solidFill>
                <a:latin typeface="Inter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8307" y="3738562"/>
            <a:ext cx="2887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Durability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7065" y="4014787"/>
            <a:ext cx="275034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Надежность: сохранение результатов после фиксации.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38550" y="4431952"/>
            <a:ext cx="4914900" cy="523875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5" y="4598640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2765" y="1902172"/>
            <a:ext cx="2226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4B8A6"/>
                </a:solidFill>
                <a:latin typeface="Inter"/>
              </a:rPr>
              <a:t>ИТОГОВЫЙ 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2835" y="2245072"/>
            <a:ext cx="10626328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Inter"/>
              </a:rPr>
              <a:t>Надежная система начинается с корректной целостности БД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479452"/>
            <a:ext cx="8334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Сочетание декларативных ограничений, процедурных триггеров и поддержки ACID гарантирует достоверность данных на всех уровнях.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9993" y="4593877"/>
            <a:ext cx="4976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Inter"/>
              </a:rPr>
              <a:t>Спасибо за внимание! Вопросы и обсуждение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https://media.istockphoto.com/id/1316753802/photo/server-room-data-center-for-cloud-computing.jpg?s=612x612&amp;w=0&amp;k=20&amp;c=fwaKUvaojilFcl95-K3jXVzA5Ef2X2IIX9OLKGVvTXE=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4302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www.istockphoto.com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71662"/>
            <a:ext cx="8155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https://dbschema.com/blog/design/steps-to-design-relational-schema/relational-database-schema-guide.png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71687"/>
            <a:ext cx="2131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dbschema.com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