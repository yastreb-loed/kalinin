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66" r:id="rId6"/>
    <p:sldId id="268" r:id="rId7"/>
    <p:sldId id="269" r:id="rId8"/>
    <p:sldId id="267" r:id="rId9"/>
    <p:sldId id="270" r:id="rId10"/>
    <p:sldId id="271" r:id="rId11"/>
    <p:sldId id="272" r:id="rId12"/>
    <p:sldId id="273" r:id="rId13"/>
    <p:sldId id="27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58" y="-461"/>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1B6C93F4-7559-4C39-BA12-A1712B949942}" type="datetimeFigureOut">
              <a:rPr lang="ru-RU" smtClean="0"/>
              <a:t>14.09.2026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B6C93F4-7559-4C39-BA12-A1712B949942}" type="datetimeFigureOut">
              <a:rPr lang="ru-RU" smtClean="0"/>
              <a:t>14.09.2026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1B6C93F4-7559-4C39-BA12-A1712B949942}" type="datetimeFigureOut">
              <a:rPr lang="ru-RU" smtClean="0"/>
              <a:t>14.09.2026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1B6C93F4-7559-4C39-BA12-A1712B949942}" type="datetimeFigureOut">
              <a:rPr lang="ru-RU" smtClean="0"/>
              <a:t>14.09.2026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1B6C93F4-7559-4C39-BA12-A1712B949942}" type="datetimeFigureOut">
              <a:rPr lang="ru-RU" smtClean="0"/>
              <a:t>14.09.2026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1B6C93F4-7559-4C39-BA12-A1712B949942}" type="datetimeFigureOut">
              <a:rPr lang="ru-RU" smtClean="0"/>
              <a:t>14.09.2026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1B6C93F4-7559-4C39-BA12-A1712B949942}" type="datetimeFigureOut">
              <a:rPr lang="ru-RU" smtClean="0"/>
              <a:t>14.09.2026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1B6C93F4-7559-4C39-BA12-A1712B949942}" type="datetimeFigureOut">
              <a:rPr lang="ru-RU" smtClean="0"/>
              <a:t>14.09.2026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1B6C93F4-7559-4C39-BA12-A1712B949942}" type="datetimeFigureOut">
              <a:rPr lang="ru-RU" smtClean="0"/>
              <a:t>14.09.2026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B6C93F4-7559-4C39-BA12-A1712B949942}" type="datetimeFigureOut">
              <a:rPr lang="ru-RU" smtClean="0"/>
              <a:t>14.09.2026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B6C93F4-7559-4C39-BA12-A1712B949942}" type="datetimeFigureOut">
              <a:rPr lang="ru-RU" smtClean="0"/>
              <a:t>14.09.2026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8878395-5BDD-4F52-925E-2CE62F6501EE}"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6C93F4-7559-4C39-BA12-A1712B949942}" type="datetimeFigureOut">
              <a:rPr lang="ru-RU" smtClean="0"/>
              <a:t>14.09.2026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878395-5BDD-4F52-925E-2CE62F6501EE}"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b="1" dirty="0"/>
              <a:t>Архитектурные отличия MS SQL </a:t>
            </a:r>
            <a:r>
              <a:rPr lang="ru-RU" b="1" dirty="0" err="1"/>
              <a:t>Server</a:t>
            </a:r>
            <a:r>
              <a:rPr lang="ru-RU" b="1" dirty="0"/>
              <a:t> и </a:t>
            </a:r>
            <a:r>
              <a:rPr lang="ru-RU" b="1" dirty="0" err="1"/>
              <a:t>PostgreSQL</a:t>
            </a:r>
            <a:endParaRPr lang="ru-RU" dirty="0"/>
          </a:p>
        </p:txBody>
      </p:sp>
      <p:sp>
        <p:nvSpPr>
          <p:cNvPr id="3" name="Подзаголовок 2"/>
          <p:cNvSpPr>
            <a:spLocks noGrp="1"/>
          </p:cNvSpPr>
          <p:nvPr>
            <p:ph type="subTitle" idx="1"/>
          </p:nvPr>
        </p:nvSpPr>
        <p:spPr/>
        <p:txBody>
          <a:bodyPr/>
          <a:lstStyle/>
          <a:p>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ФИЛОСОФИЯ И ПРОИСХОЖДЕНИЕ</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rmAutofit/>
          </a:bodyPr>
          <a:lstStyle/>
          <a:p>
            <a:pPr marL="0" indent="450000">
              <a:buNone/>
            </a:pPr>
            <a:r>
              <a:rPr lang="en-US" sz="2000" dirty="0">
                <a:latin typeface="Times New Roman" pitchFamily="18" charset="0"/>
                <a:cs typeface="Times New Roman" pitchFamily="18" charset="0"/>
              </a:rPr>
              <a:t>MS SQL Server — </a:t>
            </a:r>
            <a:r>
              <a:rPr lang="ru-RU" sz="2000" dirty="0">
                <a:latin typeface="Times New Roman" pitchFamily="18" charset="0"/>
                <a:cs typeface="Times New Roman" pitchFamily="18" charset="0"/>
              </a:rPr>
              <a:t>коммерческая СУБД от </a:t>
            </a:r>
            <a:r>
              <a:rPr lang="en-US" sz="2000" dirty="0">
                <a:latin typeface="Times New Roman" pitchFamily="18" charset="0"/>
                <a:cs typeface="Times New Roman" pitchFamily="18" charset="0"/>
              </a:rPr>
              <a:t>Microsoft, </a:t>
            </a:r>
            <a:r>
              <a:rPr lang="ru-RU" sz="2000" dirty="0">
                <a:latin typeface="Times New Roman" pitchFamily="18" charset="0"/>
                <a:cs typeface="Times New Roman" pitchFamily="18" charset="0"/>
              </a:rPr>
              <a:t>закрытый исходный код. Глубокая интеграция с экосистемой </a:t>
            </a:r>
            <a:r>
              <a:rPr lang="en-US" sz="2000" dirty="0">
                <a:latin typeface="Times New Roman" pitchFamily="18" charset="0"/>
                <a:cs typeface="Times New Roman" pitchFamily="18" charset="0"/>
              </a:rPr>
              <a:t>Microsoft: Windows Server, Azure, .NET, Active Directory. </a:t>
            </a:r>
            <a:r>
              <a:rPr lang="ru-RU" sz="2000" dirty="0">
                <a:latin typeface="Times New Roman" pitchFamily="18" charset="0"/>
                <a:cs typeface="Times New Roman" pitchFamily="18" charset="0"/>
              </a:rPr>
              <a:t>Первый релиз — 1989 г</a:t>
            </a:r>
            <a:r>
              <a:rPr lang="ru-RU"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marL="0" indent="450000">
              <a:buNone/>
            </a:pPr>
            <a:r>
              <a:rPr lang="en-US" sz="2000" dirty="0" err="1">
                <a:latin typeface="Times New Roman" pitchFamily="18" charset="0"/>
                <a:cs typeface="Times New Roman" pitchFamily="18" charset="0"/>
              </a:rPr>
              <a:t>PostgreSQL</a:t>
            </a:r>
            <a:r>
              <a:rPr lang="en-US" sz="2000" dirty="0">
                <a:latin typeface="Times New Roman" pitchFamily="18" charset="0"/>
                <a:cs typeface="Times New Roman" pitchFamily="18" charset="0"/>
              </a:rPr>
              <a:t> — </a:t>
            </a:r>
            <a:r>
              <a:rPr lang="ru-RU" sz="2000" dirty="0">
                <a:latin typeface="Times New Roman" pitchFamily="18" charset="0"/>
                <a:cs typeface="Times New Roman" pitchFamily="18" charset="0"/>
              </a:rPr>
              <a:t>открытая СУБД под лицензией </a:t>
            </a:r>
            <a:r>
              <a:rPr lang="en-US" sz="2000" dirty="0" err="1">
                <a:latin typeface="Times New Roman" pitchFamily="18" charset="0"/>
                <a:cs typeface="Times New Roman" pitchFamily="18" charset="0"/>
              </a:rPr>
              <a:t>PostgreSQL</a:t>
            </a:r>
            <a:r>
              <a:rPr lang="en-US" sz="2000" dirty="0">
                <a:latin typeface="Times New Roman" pitchFamily="18" charset="0"/>
                <a:cs typeface="Times New Roman" pitchFamily="18" charset="0"/>
              </a:rPr>
              <a:t> (</a:t>
            </a:r>
            <a:r>
              <a:rPr lang="ru-RU" sz="2000" dirty="0">
                <a:latin typeface="Times New Roman" pitchFamily="18" charset="0"/>
                <a:cs typeface="Times New Roman" pitchFamily="18" charset="0"/>
              </a:rPr>
              <a:t>аналог </a:t>
            </a:r>
            <a:r>
              <a:rPr lang="en-US" sz="2000" dirty="0">
                <a:latin typeface="Times New Roman" pitchFamily="18" charset="0"/>
                <a:cs typeface="Times New Roman" pitchFamily="18" charset="0"/>
              </a:rPr>
              <a:t>MIT/BSD). </a:t>
            </a:r>
            <a:r>
              <a:rPr lang="ru-RU" sz="2000" dirty="0">
                <a:latin typeface="Times New Roman" pitchFamily="18" charset="0"/>
                <a:cs typeface="Times New Roman" pitchFamily="18" charset="0"/>
              </a:rPr>
              <a:t>Развивается глобальным сообществом. Первый релиз — 1996 г. </a:t>
            </a:r>
            <a:r>
              <a:rPr lang="ru-RU" sz="2000" dirty="0" err="1">
                <a:latin typeface="Times New Roman" pitchFamily="18" charset="0"/>
                <a:cs typeface="Times New Roman" pitchFamily="18" charset="0"/>
              </a:rPr>
              <a:t>Кроссплатформенность</a:t>
            </a:r>
            <a:r>
              <a:rPr lang="ru-RU" sz="2000" dirty="0">
                <a:latin typeface="Times New Roman" pitchFamily="18" charset="0"/>
                <a:cs typeface="Times New Roman" pitchFamily="18" charset="0"/>
              </a:rPr>
              <a:t>: </a:t>
            </a:r>
            <a:r>
              <a:rPr lang="en-US" sz="2000" dirty="0">
                <a:latin typeface="Times New Roman" pitchFamily="18" charset="0"/>
                <a:cs typeface="Times New Roman" pitchFamily="18" charset="0"/>
              </a:rPr>
              <a:t>Windows, Linux, </a:t>
            </a:r>
            <a:r>
              <a:rPr lang="en-US" sz="2000" dirty="0" err="1">
                <a:latin typeface="Times New Roman" pitchFamily="18" charset="0"/>
                <a:cs typeface="Times New Roman" pitchFamily="18" charset="0"/>
              </a:rPr>
              <a:t>macOS</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pic>
        <p:nvPicPr>
          <p:cNvPr id="16396" name="Picture 12" descr="Picture background"/>
          <p:cNvPicPr>
            <a:picLocks noChangeAspect="1" noChangeArrowheads="1"/>
          </p:cNvPicPr>
          <p:nvPr/>
        </p:nvPicPr>
        <p:blipFill>
          <a:blip r:embed="rId2" cstate="print"/>
          <a:srcRect/>
          <a:stretch>
            <a:fillRect/>
          </a:stretch>
        </p:blipFill>
        <p:spPr bwMode="auto">
          <a:xfrm>
            <a:off x="2123728" y="5137909"/>
            <a:ext cx="4680520" cy="1720091"/>
          </a:xfrm>
          <a:prstGeom prst="rect">
            <a:avLst/>
          </a:prstGeom>
          <a:noFill/>
        </p:spPr>
      </p:pic>
      <p:pic>
        <p:nvPicPr>
          <p:cNvPr id="16392" name="Picture 8" descr="Picture background"/>
          <p:cNvPicPr>
            <a:picLocks noChangeAspect="1" noChangeArrowheads="1"/>
          </p:cNvPicPr>
          <p:nvPr/>
        </p:nvPicPr>
        <p:blipFill>
          <a:blip r:embed="rId3" cstate="print"/>
          <a:srcRect/>
          <a:stretch>
            <a:fillRect/>
          </a:stretch>
        </p:blipFill>
        <p:spPr bwMode="auto">
          <a:xfrm>
            <a:off x="179512" y="3573016"/>
            <a:ext cx="8572500" cy="1790701"/>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МОДЕЛЬ ПРОЦЕССОВ — КЛЮЧЕВОЕ РАЗЛИЧИЕ</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rmAutofit/>
          </a:bodyPr>
          <a:lstStyle/>
          <a:p>
            <a:pPr marL="0" indent="450000">
              <a:buNone/>
            </a:pPr>
            <a:r>
              <a:rPr lang="ru-RU" sz="2200" dirty="0" smtClean="0">
                <a:latin typeface="Times New Roman" pitchFamily="18" charset="0"/>
                <a:cs typeface="Times New Roman" pitchFamily="18" charset="0"/>
              </a:rPr>
              <a:t>MS </a:t>
            </a:r>
            <a:r>
              <a:rPr lang="ru-RU" sz="2200" dirty="0">
                <a:latin typeface="Times New Roman" pitchFamily="18" charset="0"/>
                <a:cs typeface="Times New Roman" pitchFamily="18" charset="0"/>
              </a:rPr>
              <a:t>SQL </a:t>
            </a:r>
            <a:r>
              <a:rPr lang="ru-RU" sz="2200" dirty="0" err="1">
                <a:latin typeface="Times New Roman" pitchFamily="18" charset="0"/>
                <a:cs typeface="Times New Roman" pitchFamily="18" charset="0"/>
              </a:rPr>
              <a:t>Server</a:t>
            </a:r>
            <a:r>
              <a:rPr lang="ru-RU" sz="2200" dirty="0">
                <a:latin typeface="Times New Roman" pitchFamily="18" charset="0"/>
                <a:cs typeface="Times New Roman" pitchFamily="18" charset="0"/>
              </a:rPr>
              <a:t>: </a:t>
            </a:r>
            <a:r>
              <a:rPr lang="ru-RU" sz="2200" dirty="0" err="1">
                <a:latin typeface="Times New Roman" pitchFamily="18" charset="0"/>
                <a:cs typeface="Times New Roman" pitchFamily="18" charset="0"/>
              </a:rPr>
              <a:t>однопроцессная</a:t>
            </a:r>
            <a:r>
              <a:rPr lang="ru-RU" sz="2200" dirty="0">
                <a:latin typeface="Times New Roman" pitchFamily="18" charset="0"/>
                <a:cs typeface="Times New Roman" pitchFamily="18" charset="0"/>
              </a:rPr>
              <a:t>, многопоточная </a:t>
            </a:r>
            <a:r>
              <a:rPr lang="ru-RU" sz="2200" dirty="0" smtClean="0">
                <a:latin typeface="Times New Roman" pitchFamily="18" charset="0"/>
                <a:cs typeface="Times New Roman" pitchFamily="18" charset="0"/>
              </a:rPr>
              <a:t>архитектура</a:t>
            </a:r>
            <a:r>
              <a:rPr lang="en-US" sz="2200" dirty="0" smtClean="0">
                <a:latin typeface="Times New Roman" pitchFamily="18" charset="0"/>
                <a:cs typeface="Times New Roman" pitchFamily="18" charset="0"/>
              </a:rPr>
              <a:t>.</a:t>
            </a:r>
            <a:endParaRPr lang="en-US" sz="2200" dirty="0" smtClean="0">
              <a:latin typeface="Times New Roman" pitchFamily="18" charset="0"/>
              <a:cs typeface="Times New Roman" pitchFamily="18" charset="0"/>
            </a:endParaRPr>
          </a:p>
          <a:p>
            <a:pPr marL="0" indent="450000">
              <a:buNone/>
            </a:pPr>
            <a:r>
              <a:rPr lang="ru-RU" sz="2200" dirty="0" smtClean="0">
                <a:latin typeface="Times New Roman" pitchFamily="18" charset="0"/>
                <a:cs typeface="Times New Roman" pitchFamily="18" charset="0"/>
              </a:rPr>
              <a:t>Единый </a:t>
            </a:r>
            <a:r>
              <a:rPr lang="ru-RU" sz="2200" dirty="0">
                <a:latin typeface="Times New Roman" pitchFamily="18" charset="0"/>
                <a:cs typeface="Times New Roman" pitchFamily="18" charset="0"/>
              </a:rPr>
              <a:t>процесс </a:t>
            </a:r>
            <a:r>
              <a:rPr lang="ru-RU" sz="2200" dirty="0" err="1">
                <a:latin typeface="Times New Roman" pitchFamily="18" charset="0"/>
                <a:cs typeface="Times New Roman" pitchFamily="18" charset="0"/>
              </a:rPr>
              <a:t>sqlservr.exe</a:t>
            </a:r>
            <a:r>
              <a:rPr lang="ru-RU" sz="2200" dirty="0">
                <a:latin typeface="Times New Roman" pitchFamily="18" charset="0"/>
                <a:cs typeface="Times New Roman" pitchFamily="18" charset="0"/>
              </a:rPr>
              <a:t> управляет пулом рабочих потоков. Потоки распределяются между CPU через планировщики (</a:t>
            </a:r>
            <a:r>
              <a:rPr lang="ru-RU" sz="2200" dirty="0" err="1">
                <a:latin typeface="Times New Roman" pitchFamily="18" charset="0"/>
                <a:cs typeface="Times New Roman" pitchFamily="18" charset="0"/>
              </a:rPr>
              <a:t>schedulers</a:t>
            </a:r>
            <a:r>
              <a:rPr lang="ru-RU" sz="2200" dirty="0">
                <a:latin typeface="Times New Roman" pitchFamily="18" charset="0"/>
                <a:cs typeface="Times New Roman" pitchFamily="18" charset="0"/>
              </a:rPr>
              <a:t>) по </a:t>
            </a:r>
            <a:r>
              <a:rPr lang="ru-RU" sz="2200" dirty="0" err="1">
                <a:latin typeface="Times New Roman" pitchFamily="18" charset="0"/>
                <a:cs typeface="Times New Roman" pitchFamily="18" charset="0"/>
              </a:rPr>
              <a:t>round-robin</a:t>
            </a:r>
            <a:r>
              <a:rPr lang="ru-RU" sz="2200" dirty="0">
                <a:latin typeface="Times New Roman" pitchFamily="18" charset="0"/>
                <a:cs typeface="Times New Roman" pitchFamily="18" charset="0"/>
              </a:rPr>
              <a:t>. Экономия памяти при большом числе подключений, но критический сбой в процессе затрагивает весь </a:t>
            </a:r>
            <a:r>
              <a:rPr lang="ru-RU" sz="2200" dirty="0" smtClean="0">
                <a:latin typeface="Times New Roman" pitchFamily="18" charset="0"/>
                <a:cs typeface="Times New Roman" pitchFamily="18" charset="0"/>
              </a:rPr>
              <a:t>сервер.</a:t>
            </a:r>
            <a:endParaRPr lang="en-US" sz="2200" dirty="0">
              <a:latin typeface="Times New Roman" pitchFamily="18" charset="0"/>
              <a:cs typeface="Times New Roman" pitchFamily="18" charset="0"/>
            </a:endParaRPr>
          </a:p>
          <a:p>
            <a:pPr marL="0" indent="450000">
              <a:buNone/>
            </a:pPr>
            <a:r>
              <a:rPr lang="ru-RU" sz="2200" dirty="0" err="1" smtClean="0">
                <a:latin typeface="Times New Roman" pitchFamily="18" charset="0"/>
                <a:cs typeface="Times New Roman" pitchFamily="18" charset="0"/>
              </a:rPr>
              <a:t>PostgreSQL</a:t>
            </a:r>
            <a:r>
              <a:rPr lang="ru-RU" sz="2200" dirty="0">
                <a:latin typeface="Times New Roman" pitchFamily="18" charset="0"/>
                <a:cs typeface="Times New Roman" pitchFamily="18" charset="0"/>
              </a:rPr>
              <a:t>: </a:t>
            </a:r>
            <a:r>
              <a:rPr lang="ru-RU" sz="2200" dirty="0" err="1">
                <a:latin typeface="Times New Roman" pitchFamily="18" charset="0"/>
                <a:cs typeface="Times New Roman" pitchFamily="18" charset="0"/>
              </a:rPr>
              <a:t>многопроцессная</a:t>
            </a:r>
            <a:r>
              <a:rPr lang="ru-RU" sz="2200" dirty="0">
                <a:latin typeface="Times New Roman" pitchFamily="18" charset="0"/>
                <a:cs typeface="Times New Roman" pitchFamily="18" charset="0"/>
              </a:rPr>
              <a:t> архитектура (</a:t>
            </a:r>
            <a:r>
              <a:rPr lang="ru-RU" sz="2200" dirty="0" err="1" smtClean="0">
                <a:latin typeface="Times New Roman" pitchFamily="18" charset="0"/>
                <a:cs typeface="Times New Roman" pitchFamily="18" charset="0"/>
              </a:rPr>
              <a:t>process-per-user</a:t>
            </a:r>
            <a:r>
              <a:rPr lang="ru-RU" sz="2200" dirty="0" smtClean="0">
                <a:latin typeface="Times New Roman" pitchFamily="18" charset="0"/>
                <a:cs typeface="Times New Roman" pitchFamily="18" charset="0"/>
              </a:rPr>
              <a:t>)</a:t>
            </a:r>
            <a:r>
              <a:rPr lang="en-US" sz="2200" dirty="0" smtClean="0">
                <a:latin typeface="Times New Roman" pitchFamily="18" charset="0"/>
                <a:cs typeface="Times New Roman" pitchFamily="18" charset="0"/>
              </a:rPr>
              <a:t>.</a:t>
            </a:r>
            <a:endParaRPr lang="en-US" sz="2200" dirty="0" smtClean="0">
              <a:latin typeface="Times New Roman" pitchFamily="18" charset="0"/>
              <a:cs typeface="Times New Roman" pitchFamily="18" charset="0"/>
            </a:endParaRPr>
          </a:p>
          <a:p>
            <a:pPr marL="0" indent="450000">
              <a:buNone/>
            </a:pPr>
            <a:r>
              <a:rPr lang="ru-RU" sz="2200" dirty="0" smtClean="0">
                <a:latin typeface="Times New Roman" pitchFamily="18" charset="0"/>
                <a:cs typeface="Times New Roman" pitchFamily="18" charset="0"/>
              </a:rPr>
              <a:t>Главный </a:t>
            </a:r>
            <a:r>
              <a:rPr lang="ru-RU" sz="2200" dirty="0">
                <a:latin typeface="Times New Roman" pitchFamily="18" charset="0"/>
                <a:cs typeface="Times New Roman" pitchFamily="18" charset="0"/>
              </a:rPr>
              <a:t>процесс </a:t>
            </a:r>
            <a:r>
              <a:rPr lang="ru-RU" sz="2200" dirty="0" err="1">
                <a:latin typeface="Times New Roman" pitchFamily="18" charset="0"/>
                <a:cs typeface="Times New Roman" pitchFamily="18" charset="0"/>
              </a:rPr>
              <a:t>postgres</a:t>
            </a:r>
            <a:r>
              <a:rPr lang="ru-RU" sz="2200" dirty="0">
                <a:latin typeface="Times New Roman" pitchFamily="18" charset="0"/>
                <a:cs typeface="Times New Roman" pitchFamily="18" charset="0"/>
              </a:rPr>
              <a:t> порождает отдельный серверный процесс для каждого клиентского подключения. Сбой одного backend-процесса не влияет на остальные. Более высокая изоляция, но выше накладные расходы на память при большом числе соединений</a:t>
            </a:r>
            <a:r>
              <a:rPr lang="ru-RU" sz="2200" dirty="0" smtClean="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marL="0" indent="450000">
              <a:buNone/>
            </a:pPr>
            <a:endParaRPr lang="en-US" sz="2400" b="1" dirty="0" smtClean="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УПРАВЛЕНИЕ ПАРАЛЛЕЛИЗМОМ: MVCC VS БЛОКИРОВКИ</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Autofit/>
          </a:bodyPr>
          <a:lstStyle/>
          <a:p>
            <a:pPr marL="0" indent="450000">
              <a:buNone/>
            </a:pPr>
            <a:r>
              <a:rPr lang="ru-RU" sz="2000" dirty="0" err="1">
                <a:latin typeface="Times New Roman" pitchFamily="18" charset="0"/>
                <a:cs typeface="Times New Roman" pitchFamily="18" charset="0"/>
              </a:rPr>
              <a:t>PostgreSQL</a:t>
            </a:r>
            <a:r>
              <a:rPr lang="ru-RU" sz="2000" dirty="0">
                <a:latin typeface="Times New Roman" pitchFamily="18" charset="0"/>
                <a:cs typeface="Times New Roman" pitchFamily="18" charset="0"/>
              </a:rPr>
              <a:t>: полноценный MVCC</a:t>
            </a:r>
          </a:p>
          <a:p>
            <a:pPr marL="0" indent="450000">
              <a:buNone/>
            </a:pPr>
            <a:r>
              <a:rPr lang="ru-RU" sz="2000" dirty="0">
                <a:latin typeface="Times New Roman" pitchFamily="18" charset="0"/>
                <a:cs typeface="Times New Roman" pitchFamily="18" charset="0"/>
              </a:rPr>
              <a:t>Каждая транзакция видит снимок данных на момент начала. При обновлении строки создается новая версия, старая не перезаписывается. Читатели не блокируют писателей, писатели не блокируют читателей. Требуется периодический VACUUM для очистки мертвых версий строк и предотвращения разбухания таблиц.</a:t>
            </a:r>
          </a:p>
          <a:p>
            <a:pPr marL="0" indent="450000">
              <a:buNone/>
            </a:pPr>
            <a:r>
              <a:rPr lang="ru-RU" sz="2000" dirty="0">
                <a:latin typeface="Times New Roman" pitchFamily="18" charset="0"/>
                <a:cs typeface="Times New Roman" pitchFamily="18" charset="0"/>
              </a:rPr>
              <a:t>MS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преимущественно блокировочная модель</a:t>
            </a:r>
          </a:p>
          <a:p>
            <a:pPr marL="0" indent="450000">
              <a:buNone/>
            </a:pPr>
            <a:r>
              <a:rPr lang="ru-RU" sz="2000" dirty="0">
                <a:latin typeface="Times New Roman" pitchFamily="18" charset="0"/>
                <a:cs typeface="Times New Roman" pitchFamily="18" charset="0"/>
              </a:rPr>
              <a:t>По умолчанию используется пессимистичный параллелизм: блокировки на уровне строк, страниц или таблиц. Начиная с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2005 поддерживается оптимистичный параллелизм через READ_COMMITTED_SNAPSHOT на основе </a:t>
            </a:r>
            <a:r>
              <a:rPr lang="ru-RU" sz="2000" dirty="0" err="1">
                <a:latin typeface="Times New Roman" pitchFamily="18" charset="0"/>
                <a:cs typeface="Times New Roman" pitchFamily="18" charset="0"/>
              </a:rPr>
              <a:t>версионирования</a:t>
            </a:r>
            <a:r>
              <a:rPr lang="ru-RU" sz="2000" dirty="0">
                <a:latin typeface="Times New Roman" pitchFamily="18" charset="0"/>
                <a:cs typeface="Times New Roman" pitchFamily="18" charset="0"/>
              </a:rPr>
              <a:t> строк, но это не поведение по умолчанию</a:t>
            </a:r>
            <a:r>
              <a:rPr lang="ru-RU"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ИНДЕКСЫ</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rmAutofit/>
          </a:bodyPr>
          <a:lstStyle/>
          <a:p>
            <a:pPr marL="0" indent="450000">
              <a:buNone/>
            </a:pPr>
            <a:r>
              <a:rPr lang="ru-RU" sz="2000" dirty="0">
                <a:latin typeface="Times New Roman" pitchFamily="18" charset="0"/>
                <a:cs typeface="Times New Roman" pitchFamily="18" charset="0"/>
              </a:rPr>
              <a:t>MS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a:t>
            </a:r>
          </a:p>
          <a:p>
            <a:pPr marL="0" indent="450000">
              <a:buNone/>
            </a:pPr>
            <a:r>
              <a:rPr lang="ru-RU" sz="2000" dirty="0" err="1">
                <a:latin typeface="Times New Roman" pitchFamily="18" charset="0"/>
                <a:cs typeface="Times New Roman" pitchFamily="18" charset="0"/>
              </a:rPr>
              <a:t>Кластеризованный</a:t>
            </a:r>
            <a:r>
              <a:rPr lang="ru-RU" sz="2000" dirty="0">
                <a:latin typeface="Times New Roman" pitchFamily="18" charset="0"/>
                <a:cs typeface="Times New Roman" pitchFamily="18" charset="0"/>
              </a:rPr>
              <a:t> индекс задает физический порядок строк; без него — «куча» (</a:t>
            </a:r>
            <a:r>
              <a:rPr lang="ru-RU" sz="2000" dirty="0" err="1">
                <a:latin typeface="Times New Roman" pitchFamily="18" charset="0"/>
                <a:cs typeface="Times New Roman" pitchFamily="18" charset="0"/>
              </a:rPr>
              <a:t>heap</a:t>
            </a:r>
            <a:r>
              <a:rPr lang="ru-RU" sz="2000" dirty="0">
                <a:latin typeface="Times New Roman" pitchFamily="18" charset="0"/>
                <a:cs typeface="Times New Roman" pitchFamily="18" charset="0"/>
              </a:rPr>
              <a:t>).</a:t>
            </a:r>
          </a:p>
          <a:p>
            <a:pPr marL="0" indent="450000">
              <a:buNone/>
            </a:pPr>
            <a:r>
              <a:rPr lang="ru-RU" sz="2000" dirty="0" err="1">
                <a:latin typeface="Times New Roman" pitchFamily="18" charset="0"/>
                <a:cs typeface="Times New Roman" pitchFamily="18" charset="0"/>
              </a:rPr>
              <a:t>Некластеризованный</a:t>
            </a:r>
            <a:r>
              <a:rPr lang="ru-RU" sz="2000" dirty="0">
                <a:latin typeface="Times New Roman" pitchFamily="18" charset="0"/>
                <a:cs typeface="Times New Roman" pitchFamily="18" charset="0"/>
              </a:rPr>
              <a:t> — отдельная структура со ссылками на данные.</a:t>
            </a:r>
          </a:p>
          <a:p>
            <a:pPr marL="0" indent="450000">
              <a:buNone/>
            </a:pPr>
            <a:r>
              <a:rPr lang="ru-RU" sz="2000" dirty="0">
                <a:latin typeface="Times New Roman" pitchFamily="18" charset="0"/>
                <a:cs typeface="Times New Roman" pitchFamily="18" charset="0"/>
              </a:rPr>
              <a:t>Четкое разделение — фирменная черта.</a:t>
            </a:r>
          </a:p>
          <a:p>
            <a:pPr marL="0" indent="450000">
              <a:buNone/>
            </a:pPr>
            <a:r>
              <a:rPr lang="ru-RU" sz="2000" dirty="0" err="1">
                <a:latin typeface="Times New Roman" pitchFamily="18" charset="0"/>
                <a:cs typeface="Times New Roman" pitchFamily="18" charset="0"/>
              </a:rPr>
              <a:t>PostgreSQL</a:t>
            </a:r>
            <a:r>
              <a:rPr lang="ru-RU" sz="2000" dirty="0">
                <a:latin typeface="Times New Roman" pitchFamily="18" charset="0"/>
                <a:cs typeface="Times New Roman" pitchFamily="18" charset="0"/>
              </a:rPr>
              <a:t>:</a:t>
            </a:r>
          </a:p>
          <a:p>
            <a:pPr marL="0" indent="450000">
              <a:buNone/>
            </a:pPr>
            <a:r>
              <a:rPr lang="ru-RU" sz="2000" dirty="0">
                <a:latin typeface="Times New Roman" pitchFamily="18" charset="0"/>
                <a:cs typeface="Times New Roman" pitchFamily="18" charset="0"/>
              </a:rPr>
              <a:t>Все индексы </a:t>
            </a:r>
            <a:r>
              <a:rPr lang="ru-RU" sz="2000" dirty="0" err="1">
                <a:latin typeface="Times New Roman" pitchFamily="18" charset="0"/>
                <a:cs typeface="Times New Roman" pitchFamily="18" charset="0"/>
              </a:rPr>
              <a:t>некластеризованные</a:t>
            </a:r>
            <a:r>
              <a:rPr lang="ru-RU" sz="2000" dirty="0">
                <a:latin typeface="Times New Roman" pitchFamily="18" charset="0"/>
                <a:cs typeface="Times New Roman" pitchFamily="18" charset="0"/>
              </a:rPr>
              <a:t>, таблица хранится как </a:t>
            </a:r>
            <a:r>
              <a:rPr lang="ru-RU" sz="2000" dirty="0" err="1">
                <a:latin typeface="Times New Roman" pitchFamily="18" charset="0"/>
                <a:cs typeface="Times New Roman" pitchFamily="18" charset="0"/>
              </a:rPr>
              <a:t>heap</a:t>
            </a:r>
            <a:r>
              <a:rPr lang="ru-RU" sz="2000" dirty="0">
                <a:latin typeface="Times New Roman" pitchFamily="18" charset="0"/>
                <a:cs typeface="Times New Roman" pitchFamily="18" charset="0"/>
              </a:rPr>
              <a:t>.</a:t>
            </a:r>
          </a:p>
          <a:p>
            <a:pPr marL="0" indent="450000">
              <a:buNone/>
            </a:pPr>
            <a:r>
              <a:rPr lang="ru-RU" sz="2000" dirty="0">
                <a:latin typeface="Times New Roman" pitchFamily="18" charset="0"/>
                <a:cs typeface="Times New Roman" pitchFamily="18" charset="0"/>
              </a:rPr>
              <a:t>Типы: </a:t>
            </a:r>
            <a:r>
              <a:rPr lang="ru-RU" sz="2000" dirty="0" err="1">
                <a:latin typeface="Times New Roman" pitchFamily="18" charset="0"/>
                <a:cs typeface="Times New Roman" pitchFamily="18" charset="0"/>
              </a:rPr>
              <a:t>B-tree</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Hash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GiST</a:t>
            </a:r>
            <a:r>
              <a:rPr lang="ru-RU" sz="2000" dirty="0">
                <a:latin typeface="Times New Roman" pitchFamily="18" charset="0"/>
                <a:cs typeface="Times New Roman" pitchFamily="18" charset="0"/>
              </a:rPr>
              <a:t>, GIN, </a:t>
            </a:r>
            <a:r>
              <a:rPr lang="ru-RU" sz="2000" dirty="0" err="1">
                <a:latin typeface="Times New Roman" pitchFamily="18" charset="0"/>
                <a:cs typeface="Times New Roman" pitchFamily="18" charset="0"/>
              </a:rPr>
              <a:t>SP-GiST</a:t>
            </a:r>
            <a:r>
              <a:rPr lang="ru-RU" sz="2000" dirty="0">
                <a:latin typeface="Times New Roman" pitchFamily="18" charset="0"/>
                <a:cs typeface="Times New Roman" pitchFamily="18" charset="0"/>
              </a:rPr>
              <a:t>, BRIN.</a:t>
            </a:r>
          </a:p>
          <a:p>
            <a:pPr marL="0" indent="450000">
              <a:buNone/>
            </a:pPr>
            <a:r>
              <a:rPr lang="ru-RU" sz="2000" dirty="0">
                <a:latin typeface="Times New Roman" pitchFamily="18" charset="0"/>
                <a:cs typeface="Times New Roman" pitchFamily="18" charset="0"/>
              </a:rPr>
              <a:t>CLUSTER упорядочивает таблицу разово, а не постоянно.</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ТИПЫ ДАННЫХ</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rmAutofit/>
          </a:bodyPr>
          <a:lstStyle/>
          <a:p>
            <a:pPr marL="0" indent="450000">
              <a:buNone/>
            </a:pPr>
            <a:r>
              <a:rPr lang="ru-RU" sz="2000" dirty="0" err="1">
                <a:latin typeface="Times New Roman" pitchFamily="18" charset="0"/>
                <a:cs typeface="Times New Roman" pitchFamily="18" charset="0"/>
              </a:rPr>
              <a:t>PostgreSQL</a:t>
            </a:r>
            <a:r>
              <a:rPr lang="ru-RU" sz="2000" dirty="0">
                <a:latin typeface="Times New Roman" pitchFamily="18" charset="0"/>
                <a:cs typeface="Times New Roman" pitchFamily="18" charset="0"/>
              </a:rPr>
              <a:t>: унифицированный и расширяемый подход</a:t>
            </a:r>
          </a:p>
          <a:p>
            <a:pPr marL="0" indent="450000">
              <a:buNone/>
            </a:pPr>
            <a:r>
              <a:rPr lang="ru-RU" sz="2000" dirty="0" err="1">
                <a:latin typeface="Times New Roman" pitchFamily="18" charset="0"/>
                <a:cs typeface="Times New Roman" pitchFamily="18" charset="0"/>
              </a:rPr>
              <a:t>Нативная</a:t>
            </a:r>
            <a:r>
              <a:rPr lang="ru-RU" sz="2000" dirty="0">
                <a:latin typeface="Times New Roman" pitchFamily="18" charset="0"/>
                <a:cs typeface="Times New Roman" pitchFamily="18" charset="0"/>
              </a:rPr>
              <a:t> поддержка JSON/JSONB, массивов, </a:t>
            </a:r>
            <a:r>
              <a:rPr lang="ru-RU" sz="2000" dirty="0" err="1">
                <a:latin typeface="Times New Roman" pitchFamily="18" charset="0"/>
                <a:cs typeface="Times New Roman" pitchFamily="18" charset="0"/>
              </a:rPr>
              <a:t>hstore</a:t>
            </a:r>
            <a:r>
              <a:rPr lang="ru-RU" sz="2000" dirty="0">
                <a:latin typeface="Times New Roman" pitchFamily="18" charset="0"/>
                <a:cs typeface="Times New Roman" pitchFamily="18" charset="0"/>
              </a:rPr>
              <a:t> (ключ-значение), геометрических типов, сетевых адресов (</a:t>
            </a:r>
            <a:r>
              <a:rPr lang="ru-RU" sz="2000" dirty="0" err="1">
                <a:latin typeface="Times New Roman" pitchFamily="18" charset="0"/>
                <a:cs typeface="Times New Roman" pitchFamily="18" charset="0"/>
              </a:rPr>
              <a:t>inet</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cidr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macaddr</a:t>
            </a:r>
            <a:r>
              <a:rPr lang="ru-RU" sz="2000" dirty="0">
                <a:latin typeface="Times New Roman" pitchFamily="18" charset="0"/>
                <a:cs typeface="Times New Roman" pitchFamily="18" charset="0"/>
              </a:rPr>
              <a:t>), диапазонов (</a:t>
            </a:r>
            <a:r>
              <a:rPr lang="ru-RU" sz="2000" dirty="0" err="1">
                <a:latin typeface="Times New Roman" pitchFamily="18" charset="0"/>
                <a:cs typeface="Times New Roman" pitchFamily="18" charset="0"/>
              </a:rPr>
              <a:t>range</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types</a:t>
            </a:r>
            <a:r>
              <a:rPr lang="ru-RU" sz="2000" dirty="0">
                <a:latin typeface="Times New Roman" pitchFamily="18" charset="0"/>
                <a:cs typeface="Times New Roman" pitchFamily="18" charset="0"/>
              </a:rPr>
              <a:t>). Пользователь может создавать собственные типы данных, операторы и функции.</a:t>
            </a:r>
          </a:p>
          <a:p>
            <a:pPr marL="0" indent="450000">
              <a:buNone/>
            </a:pPr>
            <a:r>
              <a:rPr lang="ru-RU" sz="2000" dirty="0">
                <a:latin typeface="Times New Roman" pitchFamily="18" charset="0"/>
                <a:cs typeface="Times New Roman" pitchFamily="18" charset="0"/>
              </a:rPr>
              <a:t>MS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специализированная система типов</a:t>
            </a:r>
          </a:p>
          <a:p>
            <a:pPr marL="0" indent="450000">
              <a:buNone/>
            </a:pPr>
            <a:r>
              <a:rPr lang="ru-RU" sz="2000" dirty="0">
                <a:latin typeface="Times New Roman" pitchFamily="18" charset="0"/>
                <a:cs typeface="Times New Roman" pitchFamily="18" charset="0"/>
              </a:rPr>
              <a:t>Строгое разделение </a:t>
            </a:r>
            <a:r>
              <a:rPr lang="ru-RU" sz="2000" dirty="0" err="1">
                <a:latin typeface="Times New Roman" pitchFamily="18" charset="0"/>
                <a:cs typeface="Times New Roman" pitchFamily="18" charset="0"/>
              </a:rPr>
              <a:t>Unicode</a:t>
            </a:r>
            <a:r>
              <a:rPr lang="ru-RU" sz="2000" dirty="0">
                <a:latin typeface="Times New Roman" pitchFamily="18" charset="0"/>
                <a:cs typeface="Times New Roman" pitchFamily="18" charset="0"/>
              </a:rPr>
              <a:t> и </a:t>
            </a:r>
            <a:r>
              <a:rPr lang="ru-RU" sz="2000" dirty="0" err="1">
                <a:latin typeface="Times New Roman" pitchFamily="18" charset="0"/>
                <a:cs typeface="Times New Roman" pitchFamily="18" charset="0"/>
              </a:rPr>
              <a:t>не-Unicode</a:t>
            </a:r>
            <a:r>
              <a:rPr lang="ru-RU" sz="2000" dirty="0">
                <a:latin typeface="Times New Roman" pitchFamily="18" charset="0"/>
                <a:cs typeface="Times New Roman" pitchFamily="18" charset="0"/>
              </a:rPr>
              <a:t> типов (VARCHAR </a:t>
            </a:r>
            <a:r>
              <a:rPr lang="ru-RU" sz="2000" dirty="0" err="1">
                <a:latin typeface="Times New Roman" pitchFamily="18" charset="0"/>
                <a:cs typeface="Times New Roman" pitchFamily="18" charset="0"/>
              </a:rPr>
              <a:t>vs</a:t>
            </a:r>
            <a:r>
              <a:rPr lang="ru-RU" sz="2000" dirty="0">
                <a:latin typeface="Times New Roman" pitchFamily="18" charset="0"/>
                <a:cs typeface="Times New Roman" pitchFamily="18" charset="0"/>
              </a:rPr>
              <a:t> NVARCHAR). Поддержка JSON появилась в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2016, но через функции, а не </a:t>
            </a:r>
            <a:r>
              <a:rPr lang="ru-RU" sz="2000" dirty="0" err="1">
                <a:latin typeface="Times New Roman" pitchFamily="18" charset="0"/>
                <a:cs typeface="Times New Roman" pitchFamily="18" charset="0"/>
              </a:rPr>
              <a:t>нативный</a:t>
            </a:r>
            <a:r>
              <a:rPr lang="ru-RU" sz="2000" dirty="0">
                <a:latin typeface="Times New Roman" pitchFamily="18" charset="0"/>
                <a:cs typeface="Times New Roman" pitchFamily="18" charset="0"/>
              </a:rPr>
              <a:t> тип. Собственные типы данных возможны только через CLR-интеграцию.</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РАСШИРЯЕМОСТЬ</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rmAutofit/>
          </a:bodyPr>
          <a:lstStyle/>
          <a:p>
            <a:pPr marL="0" indent="450000">
              <a:buNone/>
            </a:pPr>
            <a:r>
              <a:rPr lang="ru-RU" sz="2000" dirty="0" err="1">
                <a:latin typeface="Times New Roman" pitchFamily="18" charset="0"/>
                <a:cs typeface="Times New Roman" pitchFamily="18" charset="0"/>
              </a:rPr>
              <a:t>PostgreSQL</a:t>
            </a:r>
            <a:endParaRPr lang="ru-RU" sz="2000" dirty="0">
              <a:latin typeface="Times New Roman" pitchFamily="18" charset="0"/>
              <a:cs typeface="Times New Roman" pitchFamily="18" charset="0"/>
            </a:endParaRPr>
          </a:p>
          <a:p>
            <a:pPr marL="0" indent="450000">
              <a:buNone/>
            </a:pPr>
            <a:r>
              <a:rPr lang="ru-RU" sz="2000" dirty="0">
                <a:latin typeface="Times New Roman" pitchFamily="18" charset="0"/>
                <a:cs typeface="Times New Roman" pitchFamily="18" charset="0"/>
              </a:rPr>
              <a:t>Архитектура управляется каталогами (</a:t>
            </a:r>
            <a:r>
              <a:rPr lang="ru-RU" sz="2000" dirty="0" err="1">
                <a:latin typeface="Times New Roman" pitchFamily="18" charset="0"/>
                <a:cs typeface="Times New Roman" pitchFamily="18" charset="0"/>
              </a:rPr>
              <a:t>catalog-driven</a:t>
            </a:r>
            <a:r>
              <a:rPr lang="ru-RU" sz="2000" dirty="0">
                <a:latin typeface="Times New Roman" pitchFamily="18" charset="0"/>
                <a:cs typeface="Times New Roman" pitchFamily="18" charset="0"/>
              </a:rPr>
              <a:t>): системные каталоги содержат описания всех объектов, и пользователь может их модифицировать. Сервер динамически загружает пользовательский код (C-расширения). Широкие возможности для создания расширений: </a:t>
            </a:r>
            <a:r>
              <a:rPr lang="ru-RU" sz="2000" dirty="0" err="1">
                <a:latin typeface="Times New Roman" pitchFamily="18" charset="0"/>
                <a:cs typeface="Times New Roman" pitchFamily="18" charset="0"/>
              </a:rPr>
              <a:t>PostGIS</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Citus</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TimescaleDB</a:t>
            </a:r>
            <a:r>
              <a:rPr lang="ru-RU" sz="2000" dirty="0">
                <a:latin typeface="Times New Roman" pitchFamily="18" charset="0"/>
                <a:cs typeface="Times New Roman" pitchFamily="18" charset="0"/>
              </a:rPr>
              <a:t>.</a:t>
            </a:r>
          </a:p>
          <a:p>
            <a:pPr marL="0" indent="450000">
              <a:buNone/>
            </a:pPr>
            <a:r>
              <a:rPr lang="ru-RU" sz="2000" dirty="0">
                <a:latin typeface="Times New Roman" pitchFamily="18" charset="0"/>
                <a:cs typeface="Times New Roman" pitchFamily="18" charset="0"/>
              </a:rPr>
              <a:t>MS SQL </a:t>
            </a:r>
            <a:r>
              <a:rPr lang="ru-RU" sz="2000" dirty="0" err="1">
                <a:latin typeface="Times New Roman" pitchFamily="18" charset="0"/>
                <a:cs typeface="Times New Roman" pitchFamily="18" charset="0"/>
              </a:rPr>
              <a:t>Server</a:t>
            </a:r>
            <a:endParaRPr lang="ru-RU" sz="2000" dirty="0">
              <a:latin typeface="Times New Roman" pitchFamily="18" charset="0"/>
              <a:cs typeface="Times New Roman" pitchFamily="18" charset="0"/>
            </a:endParaRPr>
          </a:p>
          <a:p>
            <a:pPr marL="0" indent="450000">
              <a:buNone/>
            </a:pPr>
            <a:r>
              <a:rPr lang="ru-RU" sz="2000" dirty="0">
                <a:latin typeface="Times New Roman" pitchFamily="18" charset="0"/>
                <a:cs typeface="Times New Roman" pitchFamily="18" charset="0"/>
              </a:rPr>
              <a:t>Расширяемость через CLR (</a:t>
            </a:r>
            <a:r>
              <a:rPr lang="ru-RU" sz="2000" dirty="0" err="1">
                <a:latin typeface="Times New Roman" pitchFamily="18" charset="0"/>
                <a:cs typeface="Times New Roman" pitchFamily="18" charset="0"/>
              </a:rPr>
              <a:t>Common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Language</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Runtime</a:t>
            </a:r>
            <a:r>
              <a:rPr lang="ru-RU" sz="2000" dirty="0">
                <a:latin typeface="Times New Roman" pitchFamily="18" charset="0"/>
                <a:cs typeface="Times New Roman" pitchFamily="18" charset="0"/>
              </a:rPr>
              <a:t>): пользовательские функции, типы, агрегаты на .NET-языках. Ограничена экосистемой </a:t>
            </a:r>
            <a:r>
              <a:rPr lang="ru-RU" sz="2000" dirty="0" err="1">
                <a:latin typeface="Times New Roman" pitchFamily="18" charset="0"/>
                <a:cs typeface="Times New Roman" pitchFamily="18" charset="0"/>
              </a:rPr>
              <a:t>Microsoft</a:t>
            </a:r>
            <a:r>
              <a:rPr lang="ru-RU" sz="2000" dirty="0">
                <a:latin typeface="Times New Roman" pitchFamily="18" charset="0"/>
                <a:cs typeface="Times New Roman" pitchFamily="18" charset="0"/>
              </a:rPr>
              <a:t>. Сторонние расширения в классическом понимании отсутствуют.</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РАЗВЕРТЫВАНИЕ И КРОССПЛАТФОРМЕННОСТЬ</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rmAutofit/>
          </a:bodyPr>
          <a:lstStyle/>
          <a:p>
            <a:pPr marL="0" indent="450000">
              <a:buNone/>
            </a:pPr>
            <a:r>
              <a:rPr lang="en-US" sz="2000" dirty="0" err="1">
                <a:latin typeface="Times New Roman" pitchFamily="18" charset="0"/>
                <a:cs typeface="Times New Roman" pitchFamily="18" charset="0"/>
              </a:rPr>
              <a:t>PostgreSQL</a:t>
            </a:r>
            <a:endParaRPr lang="en-US" sz="2000" dirty="0">
              <a:latin typeface="Times New Roman" pitchFamily="18" charset="0"/>
              <a:cs typeface="Times New Roman" pitchFamily="18" charset="0"/>
            </a:endParaRPr>
          </a:p>
          <a:p>
            <a:pPr marL="0" indent="450000">
              <a:buNone/>
            </a:pPr>
            <a:r>
              <a:rPr lang="ru-RU" sz="2000" dirty="0" err="1">
                <a:latin typeface="Times New Roman" pitchFamily="18" charset="0"/>
                <a:cs typeface="Times New Roman" pitchFamily="18" charset="0"/>
              </a:rPr>
              <a:t>Кроссплатформенность</a:t>
            </a:r>
            <a:r>
              <a:rPr lang="ru-RU" sz="2000" dirty="0">
                <a:latin typeface="Times New Roman" pitchFamily="18" charset="0"/>
                <a:cs typeface="Times New Roman" pitchFamily="18" charset="0"/>
              </a:rPr>
              <a:t>: </a:t>
            </a:r>
            <a:r>
              <a:rPr lang="en-US" sz="2000" dirty="0">
                <a:latin typeface="Times New Roman" pitchFamily="18" charset="0"/>
                <a:cs typeface="Times New Roman" pitchFamily="18" charset="0"/>
              </a:rPr>
              <a:t>Linux, Windows, </a:t>
            </a:r>
            <a:r>
              <a:rPr lang="en-US" sz="2000" dirty="0" err="1">
                <a:latin typeface="Times New Roman" pitchFamily="18" charset="0"/>
                <a:cs typeface="Times New Roman" pitchFamily="18" charset="0"/>
              </a:rPr>
              <a:t>macOS</a:t>
            </a:r>
            <a:r>
              <a:rPr lang="en-US" sz="2000" dirty="0">
                <a:latin typeface="Times New Roman" pitchFamily="18" charset="0"/>
                <a:cs typeface="Times New Roman" pitchFamily="18" charset="0"/>
              </a:rPr>
              <a:t>, FreeBSD. </a:t>
            </a:r>
            <a:r>
              <a:rPr lang="ru-RU" sz="2000" dirty="0">
                <a:latin typeface="Times New Roman" pitchFamily="18" charset="0"/>
                <a:cs typeface="Times New Roman" pitchFamily="18" charset="0"/>
              </a:rPr>
              <a:t>Развертывание: </a:t>
            </a:r>
            <a:r>
              <a:rPr lang="en-US" sz="2000" dirty="0">
                <a:latin typeface="Times New Roman" pitchFamily="18" charset="0"/>
                <a:cs typeface="Times New Roman" pitchFamily="18" charset="0"/>
              </a:rPr>
              <a:t>on-premises, </a:t>
            </a:r>
            <a:r>
              <a:rPr lang="ru-RU" sz="2000" dirty="0">
                <a:latin typeface="Times New Roman" pitchFamily="18" charset="0"/>
                <a:cs typeface="Times New Roman" pitchFamily="18" charset="0"/>
              </a:rPr>
              <a:t>виртуальные машины, </a:t>
            </a:r>
            <a:r>
              <a:rPr lang="en-US" sz="2000" dirty="0">
                <a:latin typeface="Times New Roman" pitchFamily="18" charset="0"/>
                <a:cs typeface="Times New Roman" pitchFamily="18" charset="0"/>
              </a:rPr>
              <a:t>managed-</a:t>
            </a:r>
            <a:r>
              <a:rPr lang="ru-RU" sz="2000" dirty="0">
                <a:latin typeface="Times New Roman" pitchFamily="18" charset="0"/>
                <a:cs typeface="Times New Roman" pitchFamily="18" charset="0"/>
              </a:rPr>
              <a:t>сервисы (</a:t>
            </a:r>
            <a:r>
              <a:rPr lang="en-US" sz="2000" dirty="0">
                <a:latin typeface="Times New Roman" pitchFamily="18" charset="0"/>
                <a:cs typeface="Times New Roman" pitchFamily="18" charset="0"/>
              </a:rPr>
              <a:t>Amazon RDS, Google Cloud SQL, Azure Database for </a:t>
            </a:r>
            <a:r>
              <a:rPr lang="en-US" sz="2000" dirty="0" err="1">
                <a:latin typeface="Times New Roman" pitchFamily="18" charset="0"/>
                <a:cs typeface="Times New Roman" pitchFamily="18" charset="0"/>
              </a:rPr>
              <a:t>PostgreSQL</a:t>
            </a:r>
            <a:r>
              <a:rPr lang="en-US" sz="2000" dirty="0">
                <a:latin typeface="Times New Roman" pitchFamily="18" charset="0"/>
                <a:cs typeface="Times New Roman" pitchFamily="18" charset="0"/>
              </a:rPr>
              <a:t>).</a:t>
            </a:r>
          </a:p>
          <a:p>
            <a:pPr marL="0" indent="450000">
              <a:buNone/>
            </a:pPr>
            <a:r>
              <a:rPr lang="en-US" sz="2000" dirty="0">
                <a:latin typeface="Times New Roman" pitchFamily="18" charset="0"/>
                <a:cs typeface="Times New Roman" pitchFamily="18" charset="0"/>
              </a:rPr>
              <a:t>MS SQL Server</a:t>
            </a:r>
          </a:p>
          <a:p>
            <a:pPr marL="0" indent="450000">
              <a:buNone/>
            </a:pPr>
            <a:r>
              <a:rPr lang="ru-RU" sz="2000" dirty="0">
                <a:latin typeface="Times New Roman" pitchFamily="18" charset="0"/>
                <a:cs typeface="Times New Roman" pitchFamily="18" charset="0"/>
              </a:rPr>
              <a:t>Исторически — только </a:t>
            </a:r>
            <a:r>
              <a:rPr lang="en-US" sz="2000" dirty="0">
                <a:latin typeface="Times New Roman" pitchFamily="18" charset="0"/>
                <a:cs typeface="Times New Roman" pitchFamily="18" charset="0"/>
              </a:rPr>
              <a:t>Windows. </a:t>
            </a:r>
            <a:r>
              <a:rPr lang="ru-RU" sz="2000" dirty="0">
                <a:latin typeface="Times New Roman" pitchFamily="18" charset="0"/>
                <a:cs typeface="Times New Roman" pitchFamily="18" charset="0"/>
              </a:rPr>
              <a:t>С 2017 г. поддерживается </a:t>
            </a:r>
            <a:r>
              <a:rPr lang="en-US" sz="2000" dirty="0">
                <a:latin typeface="Times New Roman" pitchFamily="18" charset="0"/>
                <a:cs typeface="Times New Roman" pitchFamily="18" charset="0"/>
              </a:rPr>
              <a:t>Linux </a:t>
            </a:r>
            <a:r>
              <a:rPr lang="ru-RU" sz="2000" dirty="0">
                <a:latin typeface="Times New Roman" pitchFamily="18" charset="0"/>
                <a:cs typeface="Times New Roman" pitchFamily="18" charset="0"/>
              </a:rPr>
              <a:t>и контейнеры. Облачное развертывание: </a:t>
            </a:r>
            <a:r>
              <a:rPr lang="en-US" sz="2000" dirty="0">
                <a:latin typeface="Times New Roman" pitchFamily="18" charset="0"/>
                <a:cs typeface="Times New Roman" pitchFamily="18" charset="0"/>
              </a:rPr>
              <a:t>Azure SQL Database, Azure SQL Managed Instance. </a:t>
            </a:r>
            <a:r>
              <a:rPr lang="ru-RU" sz="2000" dirty="0">
                <a:latin typeface="Times New Roman" pitchFamily="18" charset="0"/>
                <a:cs typeface="Times New Roman" pitchFamily="18" charset="0"/>
              </a:rPr>
              <a:t>Глубокая интеграция с </a:t>
            </a:r>
            <a:r>
              <a:rPr lang="en-US" sz="2000" dirty="0">
                <a:latin typeface="Times New Roman" pitchFamily="18" charset="0"/>
                <a:cs typeface="Times New Roman" pitchFamily="18" charset="0"/>
              </a:rPr>
              <a:t>Azure.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СВОДНАЯ ТАБЛИЦА</a:t>
            </a:r>
            <a:endParaRPr lang="ru-RU" sz="3200" dirty="0">
              <a:latin typeface="Times New Roman" pitchFamily="18" charset="0"/>
              <a:cs typeface="Times New Roman" pitchFamily="18" charset="0"/>
            </a:endParaRPr>
          </a:p>
        </p:txBody>
      </p:sp>
      <p:graphicFrame>
        <p:nvGraphicFramePr>
          <p:cNvPr id="4" name="Содержимое 3"/>
          <p:cNvGraphicFramePr>
            <a:graphicFrameLocks noGrp="1"/>
          </p:cNvGraphicFramePr>
          <p:nvPr>
            <p:ph idx="1"/>
          </p:nvPr>
        </p:nvGraphicFramePr>
        <p:xfrm>
          <a:off x="457200" y="1600200"/>
          <a:ext cx="8229600" cy="478536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pPr algn="l"/>
                      <a:r>
                        <a:rPr lang="ru-RU" b="0">
                          <a:latin typeface="Times New Roman" pitchFamily="18" charset="0"/>
                          <a:cs typeface="Times New Roman" pitchFamily="18" charset="0"/>
                        </a:rPr>
                        <a:t>Критерий</a:t>
                      </a:r>
                    </a:p>
                  </a:txBody>
                  <a:tcPr marR="121920" marT="76200" marB="76200" anchor="ctr"/>
                </a:tc>
                <a:tc>
                  <a:txBody>
                    <a:bodyPr/>
                    <a:lstStyle/>
                    <a:p>
                      <a:pPr algn="l"/>
                      <a:r>
                        <a:rPr lang="en-US" b="0">
                          <a:latin typeface="Times New Roman" pitchFamily="18" charset="0"/>
                          <a:cs typeface="Times New Roman" pitchFamily="18" charset="0"/>
                        </a:rPr>
                        <a:t>MS SQL Server</a:t>
                      </a:r>
                    </a:p>
                  </a:txBody>
                  <a:tcPr marL="121920" marR="121920" marT="76200" marB="76200" anchor="ctr"/>
                </a:tc>
                <a:tc>
                  <a:txBody>
                    <a:bodyPr/>
                    <a:lstStyle/>
                    <a:p>
                      <a:pPr algn="l"/>
                      <a:r>
                        <a:rPr lang="en-US" b="0">
                          <a:latin typeface="Times New Roman" pitchFamily="18" charset="0"/>
                          <a:cs typeface="Times New Roman" pitchFamily="18" charset="0"/>
                        </a:rPr>
                        <a:t>PostgreSQL</a:t>
                      </a:r>
                    </a:p>
                  </a:txBody>
                  <a:tcPr marL="121920" marR="121920" marT="76200" marB="76200" anchor="ctr"/>
                </a:tc>
              </a:tr>
              <a:tr h="370840">
                <a:tc>
                  <a:txBody>
                    <a:bodyPr/>
                    <a:lstStyle/>
                    <a:p>
                      <a:r>
                        <a:rPr lang="ru-RU" b="0">
                          <a:latin typeface="Times New Roman" pitchFamily="18" charset="0"/>
                          <a:cs typeface="Times New Roman" pitchFamily="18" charset="0"/>
                        </a:rPr>
                        <a:t>Модель процессов</a:t>
                      </a:r>
                    </a:p>
                  </a:txBody>
                  <a:tcPr marR="121920" marT="76200" marB="76200" anchor="ctr"/>
                </a:tc>
                <a:tc>
                  <a:txBody>
                    <a:bodyPr/>
                    <a:lstStyle/>
                    <a:p>
                      <a:r>
                        <a:rPr lang="ru-RU" b="0">
                          <a:latin typeface="Times New Roman" pitchFamily="18" charset="0"/>
                          <a:cs typeface="Times New Roman" pitchFamily="18" charset="0"/>
                        </a:rPr>
                        <a:t>Однопроцессная, многопоточная</a:t>
                      </a:r>
                    </a:p>
                  </a:txBody>
                  <a:tcPr marL="121920" marR="121920" marT="76200" marB="76200" anchor="ctr"/>
                </a:tc>
                <a:tc>
                  <a:txBody>
                    <a:bodyPr/>
                    <a:lstStyle/>
                    <a:p>
                      <a:r>
                        <a:rPr lang="ru-RU" b="0">
                          <a:latin typeface="Times New Roman" pitchFamily="18" charset="0"/>
                          <a:cs typeface="Times New Roman" pitchFamily="18" charset="0"/>
                        </a:rPr>
                        <a:t>Многопроцессная</a:t>
                      </a:r>
                    </a:p>
                  </a:txBody>
                  <a:tcPr marL="121920" marT="76200" marB="76200" anchor="ctr"/>
                </a:tc>
              </a:tr>
              <a:tr h="370840">
                <a:tc>
                  <a:txBody>
                    <a:bodyPr/>
                    <a:lstStyle/>
                    <a:p>
                      <a:r>
                        <a:rPr lang="ru-RU" b="0">
                          <a:latin typeface="Times New Roman" pitchFamily="18" charset="0"/>
                          <a:cs typeface="Times New Roman" pitchFamily="18" charset="0"/>
                        </a:rPr>
                        <a:t>Параллелизм</a:t>
                      </a:r>
                    </a:p>
                  </a:txBody>
                  <a:tcPr marR="121920" marT="76200" marB="76200" anchor="ctr"/>
                </a:tc>
                <a:tc>
                  <a:txBody>
                    <a:bodyPr/>
                    <a:lstStyle/>
                    <a:p>
                      <a:r>
                        <a:rPr lang="ru-RU" b="0" dirty="0">
                          <a:latin typeface="Times New Roman" pitchFamily="18" charset="0"/>
                          <a:cs typeface="Times New Roman" pitchFamily="18" charset="0"/>
                        </a:rPr>
                        <a:t>Блокировки (по умолчанию)</a:t>
                      </a:r>
                    </a:p>
                  </a:txBody>
                  <a:tcPr marL="121920" marR="121920" marT="76200" marB="76200" anchor="ctr"/>
                </a:tc>
                <a:tc>
                  <a:txBody>
                    <a:bodyPr/>
                    <a:lstStyle/>
                    <a:p>
                      <a:r>
                        <a:rPr lang="en-US" b="0">
                          <a:latin typeface="Times New Roman" pitchFamily="18" charset="0"/>
                          <a:cs typeface="Times New Roman" pitchFamily="18" charset="0"/>
                        </a:rPr>
                        <a:t>MVCC</a:t>
                      </a:r>
                    </a:p>
                  </a:txBody>
                  <a:tcPr marL="121920" marT="76200" marB="76200" anchor="ctr"/>
                </a:tc>
              </a:tr>
              <a:tr h="370840">
                <a:tc>
                  <a:txBody>
                    <a:bodyPr/>
                    <a:lstStyle/>
                    <a:p>
                      <a:r>
                        <a:rPr lang="ru-RU" b="0">
                          <a:latin typeface="Times New Roman" pitchFamily="18" charset="0"/>
                          <a:cs typeface="Times New Roman" pitchFamily="18" charset="0"/>
                        </a:rPr>
                        <a:t>Индексы</a:t>
                      </a:r>
                    </a:p>
                  </a:txBody>
                  <a:tcPr marR="121920" marT="76200" marB="76200" anchor="ctr"/>
                </a:tc>
                <a:tc>
                  <a:txBody>
                    <a:bodyPr/>
                    <a:lstStyle/>
                    <a:p>
                      <a:r>
                        <a:rPr lang="ru-RU" b="0" dirty="0" err="1">
                          <a:latin typeface="Times New Roman" pitchFamily="18" charset="0"/>
                          <a:cs typeface="Times New Roman" pitchFamily="18" charset="0"/>
                        </a:rPr>
                        <a:t>Кластеризованные</a:t>
                      </a:r>
                      <a:r>
                        <a:rPr lang="ru-RU" b="0" dirty="0">
                          <a:latin typeface="Times New Roman" pitchFamily="18" charset="0"/>
                          <a:cs typeface="Times New Roman" pitchFamily="18" charset="0"/>
                        </a:rPr>
                        <a:t> + </a:t>
                      </a:r>
                      <a:r>
                        <a:rPr lang="ru-RU" b="0" dirty="0" err="1">
                          <a:latin typeface="Times New Roman" pitchFamily="18" charset="0"/>
                          <a:cs typeface="Times New Roman" pitchFamily="18" charset="0"/>
                        </a:rPr>
                        <a:t>некластеризованные</a:t>
                      </a:r>
                      <a:endParaRPr lang="ru-RU" b="0" dirty="0">
                        <a:latin typeface="Times New Roman" pitchFamily="18" charset="0"/>
                        <a:cs typeface="Times New Roman" pitchFamily="18" charset="0"/>
                      </a:endParaRPr>
                    </a:p>
                  </a:txBody>
                  <a:tcPr marL="121920" marR="121920" marT="76200" marB="76200" anchor="ctr"/>
                </a:tc>
                <a:tc>
                  <a:txBody>
                    <a:bodyPr/>
                    <a:lstStyle/>
                    <a:p>
                      <a:r>
                        <a:rPr lang="ru-RU" b="0">
                          <a:latin typeface="Times New Roman" pitchFamily="18" charset="0"/>
                          <a:cs typeface="Times New Roman" pitchFamily="18" charset="0"/>
                        </a:rPr>
                        <a:t>Некластеризованные (</a:t>
                      </a:r>
                      <a:r>
                        <a:rPr lang="en-US" b="0">
                          <a:latin typeface="Times New Roman" pitchFamily="18" charset="0"/>
                          <a:cs typeface="Times New Roman" pitchFamily="18" charset="0"/>
                        </a:rPr>
                        <a:t>B-tree, GIN, GiST…)</a:t>
                      </a:r>
                    </a:p>
                  </a:txBody>
                  <a:tcPr marL="121920" marT="76200" marB="76200" anchor="ctr"/>
                </a:tc>
              </a:tr>
              <a:tr h="370840">
                <a:tc>
                  <a:txBody>
                    <a:bodyPr/>
                    <a:lstStyle/>
                    <a:p>
                      <a:r>
                        <a:rPr lang="ru-RU" b="0">
                          <a:latin typeface="Times New Roman" pitchFamily="18" charset="0"/>
                          <a:cs typeface="Times New Roman" pitchFamily="18" charset="0"/>
                        </a:rPr>
                        <a:t>Типы данных</a:t>
                      </a:r>
                    </a:p>
                  </a:txBody>
                  <a:tcPr marR="121920" marT="76200" marB="76200" anchor="ctr"/>
                </a:tc>
                <a:tc>
                  <a:txBody>
                    <a:bodyPr/>
                    <a:lstStyle/>
                    <a:p>
                      <a:r>
                        <a:rPr lang="ru-RU" b="0">
                          <a:latin typeface="Times New Roman" pitchFamily="18" charset="0"/>
                          <a:cs typeface="Times New Roman" pitchFamily="18" charset="0"/>
                        </a:rPr>
                        <a:t>Специализированные</a:t>
                      </a:r>
                    </a:p>
                  </a:txBody>
                  <a:tcPr marL="121920" marR="121920" marT="76200" marB="76200" anchor="ctr"/>
                </a:tc>
                <a:tc>
                  <a:txBody>
                    <a:bodyPr/>
                    <a:lstStyle/>
                    <a:p>
                      <a:r>
                        <a:rPr lang="ru-RU" b="0">
                          <a:latin typeface="Times New Roman" pitchFamily="18" charset="0"/>
                          <a:cs typeface="Times New Roman" pitchFamily="18" charset="0"/>
                        </a:rPr>
                        <a:t>Унифицированные, расширяемые</a:t>
                      </a:r>
                    </a:p>
                  </a:txBody>
                  <a:tcPr marL="121920" marT="76200" marB="76200" anchor="ctr"/>
                </a:tc>
              </a:tr>
              <a:tr h="370840">
                <a:tc>
                  <a:txBody>
                    <a:bodyPr/>
                    <a:lstStyle/>
                    <a:p>
                      <a:r>
                        <a:rPr lang="ru-RU" b="0">
                          <a:latin typeface="Times New Roman" pitchFamily="18" charset="0"/>
                          <a:cs typeface="Times New Roman" pitchFamily="18" charset="0"/>
                        </a:rPr>
                        <a:t>Расширяемость</a:t>
                      </a:r>
                    </a:p>
                  </a:txBody>
                  <a:tcPr marR="121920" marT="76200" marB="76200" anchor="ctr"/>
                </a:tc>
                <a:tc>
                  <a:txBody>
                    <a:bodyPr/>
                    <a:lstStyle/>
                    <a:p>
                      <a:r>
                        <a:rPr lang="en-US" b="0">
                          <a:latin typeface="Times New Roman" pitchFamily="18" charset="0"/>
                          <a:cs typeface="Times New Roman" pitchFamily="18" charset="0"/>
                        </a:rPr>
                        <a:t>CLR / .NET</a:t>
                      </a:r>
                    </a:p>
                  </a:txBody>
                  <a:tcPr marL="121920" marR="121920" marT="76200" marB="76200" anchor="ctr"/>
                </a:tc>
                <a:tc>
                  <a:txBody>
                    <a:bodyPr/>
                    <a:lstStyle/>
                    <a:p>
                      <a:r>
                        <a:rPr lang="en-US" b="0">
                          <a:latin typeface="Times New Roman" pitchFamily="18" charset="0"/>
                          <a:cs typeface="Times New Roman" pitchFamily="18" charset="0"/>
                        </a:rPr>
                        <a:t>C-</a:t>
                      </a:r>
                      <a:r>
                        <a:rPr lang="ru-RU" b="0">
                          <a:latin typeface="Times New Roman" pitchFamily="18" charset="0"/>
                          <a:cs typeface="Times New Roman" pitchFamily="18" charset="0"/>
                        </a:rPr>
                        <a:t>расширения, каталоги</a:t>
                      </a:r>
                    </a:p>
                  </a:txBody>
                  <a:tcPr marL="121920" marT="76200" marB="76200" anchor="ctr"/>
                </a:tc>
              </a:tr>
              <a:tr h="370840">
                <a:tc>
                  <a:txBody>
                    <a:bodyPr/>
                    <a:lstStyle/>
                    <a:p>
                      <a:r>
                        <a:rPr lang="ru-RU" b="0">
                          <a:latin typeface="Times New Roman" pitchFamily="18" charset="0"/>
                          <a:cs typeface="Times New Roman" pitchFamily="18" charset="0"/>
                        </a:rPr>
                        <a:t>Платформы</a:t>
                      </a:r>
                    </a:p>
                  </a:txBody>
                  <a:tcPr marR="121920" marT="76200" marB="76200" anchor="ctr"/>
                </a:tc>
                <a:tc>
                  <a:txBody>
                    <a:bodyPr/>
                    <a:lstStyle/>
                    <a:p>
                      <a:r>
                        <a:rPr lang="en-US" b="0">
                          <a:latin typeface="Times New Roman" pitchFamily="18" charset="0"/>
                          <a:cs typeface="Times New Roman" pitchFamily="18" charset="0"/>
                        </a:rPr>
                        <a:t>Windows, Linux, </a:t>
                      </a:r>
                      <a:r>
                        <a:rPr lang="ru-RU" b="0">
                          <a:latin typeface="Times New Roman" pitchFamily="18" charset="0"/>
                          <a:cs typeface="Times New Roman" pitchFamily="18" charset="0"/>
                        </a:rPr>
                        <a:t>контейнеры</a:t>
                      </a:r>
                    </a:p>
                  </a:txBody>
                  <a:tcPr marL="121920" marR="121920" marT="76200" marB="76200" anchor="ctr"/>
                </a:tc>
                <a:tc>
                  <a:txBody>
                    <a:bodyPr/>
                    <a:lstStyle/>
                    <a:p>
                      <a:r>
                        <a:rPr lang="en-US" b="0">
                          <a:latin typeface="Times New Roman" pitchFamily="18" charset="0"/>
                          <a:cs typeface="Times New Roman" pitchFamily="18" charset="0"/>
                        </a:rPr>
                        <a:t>Linux, Windows, macOS, FreeBSD</a:t>
                      </a:r>
                    </a:p>
                  </a:txBody>
                  <a:tcPr marL="121920" marT="76200" marB="76200" anchor="ctr"/>
                </a:tc>
              </a:tr>
              <a:tr h="370840">
                <a:tc>
                  <a:txBody>
                    <a:bodyPr/>
                    <a:lstStyle/>
                    <a:p>
                      <a:r>
                        <a:rPr lang="ru-RU" b="0">
                          <a:latin typeface="Times New Roman" pitchFamily="18" charset="0"/>
                          <a:cs typeface="Times New Roman" pitchFamily="18" charset="0"/>
                        </a:rPr>
                        <a:t>Лицензия</a:t>
                      </a:r>
                    </a:p>
                  </a:txBody>
                  <a:tcPr marR="121920" marT="76200" marB="76200" anchor="ctr"/>
                </a:tc>
                <a:tc>
                  <a:txBody>
                    <a:bodyPr/>
                    <a:lstStyle/>
                    <a:p>
                      <a:r>
                        <a:rPr lang="ru-RU" b="0">
                          <a:latin typeface="Times New Roman" pitchFamily="18" charset="0"/>
                          <a:cs typeface="Times New Roman" pitchFamily="18" charset="0"/>
                        </a:rPr>
                        <a:t>Коммерческая</a:t>
                      </a:r>
                    </a:p>
                  </a:txBody>
                  <a:tcPr marL="121920" marR="121920" marT="76200" marB="76200" anchor="ctr"/>
                </a:tc>
                <a:tc>
                  <a:txBody>
                    <a:bodyPr/>
                    <a:lstStyle/>
                    <a:p>
                      <a:r>
                        <a:rPr lang="en-US" b="0" dirty="0">
                          <a:latin typeface="Times New Roman" pitchFamily="18" charset="0"/>
                          <a:cs typeface="Times New Roman" pitchFamily="18" charset="0"/>
                        </a:rPr>
                        <a:t>Open Source</a:t>
                      </a:r>
                    </a:p>
                  </a:txBody>
                  <a:tcPr marL="121920" marT="76200" marB="76200"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ВЛИЯНИЕ НА ПРОИЗВОДИТЕЛЬНОСТЬ И СЦЕНАРИИ ИСПОЛЬЗОВАНИЯ</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rmAutofit/>
          </a:bodyPr>
          <a:lstStyle/>
          <a:p>
            <a:pPr marL="0" indent="0">
              <a:buNone/>
            </a:pPr>
            <a:r>
              <a:rPr lang="ru-RU" sz="2000" dirty="0" err="1">
                <a:latin typeface="Times New Roman" pitchFamily="18" charset="0"/>
                <a:cs typeface="Times New Roman" pitchFamily="18" charset="0"/>
              </a:rPr>
              <a:t>PostgreSQL</a:t>
            </a:r>
            <a:r>
              <a:rPr lang="ru-RU" sz="2000" dirty="0">
                <a:latin typeface="Times New Roman" pitchFamily="18" charset="0"/>
                <a:cs typeface="Times New Roman" pitchFamily="18" charset="0"/>
              </a:rPr>
              <a:t> предпочтителен для:</a:t>
            </a:r>
          </a:p>
          <a:p>
            <a:pPr marL="0" indent="450000"/>
            <a:r>
              <a:rPr lang="ru-RU" sz="2000" dirty="0">
                <a:latin typeface="Times New Roman" pitchFamily="18" charset="0"/>
                <a:cs typeface="Times New Roman" pitchFamily="18" charset="0"/>
              </a:rPr>
              <a:t>Приложений с высокой </a:t>
            </a:r>
            <a:r>
              <a:rPr lang="ru-RU" sz="2000" dirty="0" err="1">
                <a:latin typeface="Times New Roman" pitchFamily="18" charset="0"/>
                <a:cs typeface="Times New Roman" pitchFamily="18" charset="0"/>
              </a:rPr>
              <a:t>конкурентностью</a:t>
            </a:r>
            <a:r>
              <a:rPr lang="ru-RU" sz="2000" dirty="0">
                <a:latin typeface="Times New Roman" pitchFamily="18" charset="0"/>
                <a:cs typeface="Times New Roman" pitchFamily="18" charset="0"/>
              </a:rPr>
              <a:t> на запись (MVCC снижает блокировки)</a:t>
            </a:r>
          </a:p>
          <a:p>
            <a:pPr marL="0" indent="450000"/>
            <a:r>
              <a:rPr lang="ru-RU" sz="2000" dirty="0" err="1">
                <a:latin typeface="Times New Roman" pitchFamily="18" charset="0"/>
                <a:cs typeface="Times New Roman" pitchFamily="18" charset="0"/>
              </a:rPr>
              <a:t>Геопространственных</a:t>
            </a:r>
            <a:r>
              <a:rPr lang="ru-RU" sz="2000" dirty="0">
                <a:latin typeface="Times New Roman" pitchFamily="18" charset="0"/>
                <a:cs typeface="Times New Roman" pitchFamily="18" charset="0"/>
              </a:rPr>
              <a:t> задач (</a:t>
            </a:r>
            <a:r>
              <a:rPr lang="ru-RU" sz="2000" dirty="0" err="1">
                <a:latin typeface="Times New Roman" pitchFamily="18" charset="0"/>
                <a:cs typeface="Times New Roman" pitchFamily="18" charset="0"/>
              </a:rPr>
              <a:t>PostGIS</a:t>
            </a:r>
            <a:r>
              <a:rPr lang="ru-RU" sz="2000" dirty="0">
                <a:latin typeface="Times New Roman" pitchFamily="18" charset="0"/>
                <a:cs typeface="Times New Roman" pitchFamily="18" charset="0"/>
              </a:rPr>
              <a:t>)</a:t>
            </a:r>
          </a:p>
          <a:p>
            <a:pPr marL="0" indent="450000"/>
            <a:r>
              <a:rPr lang="ru-RU" sz="2000" dirty="0">
                <a:latin typeface="Times New Roman" pitchFamily="18" charset="0"/>
                <a:cs typeface="Times New Roman" pitchFamily="18" charset="0"/>
              </a:rPr>
              <a:t>Проектов со сложной моделью данных (JSONB, массивы, </a:t>
            </a:r>
            <a:r>
              <a:rPr lang="ru-RU" sz="2000" dirty="0" err="1">
                <a:latin typeface="Times New Roman" pitchFamily="18" charset="0"/>
                <a:cs typeface="Times New Roman" pitchFamily="18" charset="0"/>
              </a:rPr>
              <a:t>кастомные</a:t>
            </a:r>
            <a:r>
              <a:rPr lang="ru-RU" sz="2000" dirty="0">
                <a:latin typeface="Times New Roman" pitchFamily="18" charset="0"/>
                <a:cs typeface="Times New Roman" pitchFamily="18" charset="0"/>
              </a:rPr>
              <a:t> типы)</a:t>
            </a:r>
          </a:p>
          <a:p>
            <a:pPr marL="0" indent="450000"/>
            <a:r>
              <a:rPr lang="ru-RU" sz="2000" dirty="0" err="1">
                <a:latin typeface="Times New Roman" pitchFamily="18" charset="0"/>
                <a:cs typeface="Times New Roman" pitchFamily="18" charset="0"/>
              </a:rPr>
              <a:t>Кроссплатформенных</a:t>
            </a:r>
            <a:r>
              <a:rPr lang="ru-RU" sz="2000" dirty="0">
                <a:latin typeface="Times New Roman" pitchFamily="18" charset="0"/>
                <a:cs typeface="Times New Roman" pitchFamily="18" charset="0"/>
              </a:rPr>
              <a:t> и облачно-нейтральных </a:t>
            </a:r>
            <a:r>
              <a:rPr lang="ru-RU" sz="2000" dirty="0" smtClean="0">
                <a:latin typeface="Times New Roman" pitchFamily="18" charset="0"/>
                <a:cs typeface="Times New Roman" pitchFamily="18" charset="0"/>
              </a:rPr>
              <a:t>решений</a:t>
            </a:r>
            <a:endParaRPr lang="en-US" sz="2000" dirty="0" smtClean="0">
              <a:latin typeface="Times New Roman" pitchFamily="18" charset="0"/>
              <a:cs typeface="Times New Roman" pitchFamily="18" charset="0"/>
            </a:endParaRPr>
          </a:p>
          <a:p>
            <a:pPr marL="0" indent="0">
              <a:buNone/>
            </a:pPr>
            <a:r>
              <a:rPr lang="ru-RU" sz="2000" dirty="0" smtClean="0">
                <a:latin typeface="Times New Roman" pitchFamily="18" charset="0"/>
                <a:cs typeface="Times New Roman" pitchFamily="18" charset="0"/>
              </a:rPr>
              <a:t>MS </a:t>
            </a:r>
            <a:r>
              <a:rPr lang="ru-RU" sz="2000" dirty="0">
                <a:latin typeface="Times New Roman" pitchFamily="18" charset="0"/>
                <a:cs typeface="Times New Roman" pitchFamily="18" charset="0"/>
              </a:rPr>
              <a:t>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предпочтителен для:</a:t>
            </a:r>
          </a:p>
          <a:p>
            <a:pPr marL="0" indent="450000"/>
            <a:r>
              <a:rPr lang="ru-RU" sz="2000" dirty="0">
                <a:latin typeface="Times New Roman" pitchFamily="18" charset="0"/>
                <a:cs typeface="Times New Roman" pitchFamily="18" charset="0"/>
              </a:rPr>
              <a:t>Экосистемы </a:t>
            </a:r>
            <a:r>
              <a:rPr lang="ru-RU" sz="2000" dirty="0" err="1">
                <a:latin typeface="Times New Roman" pitchFamily="18" charset="0"/>
                <a:cs typeface="Times New Roman" pitchFamily="18" charset="0"/>
              </a:rPr>
              <a:t>Microsoft</a:t>
            </a:r>
            <a:r>
              <a:rPr lang="ru-RU" sz="2000" dirty="0">
                <a:latin typeface="Times New Roman" pitchFamily="18" charset="0"/>
                <a:cs typeface="Times New Roman" pitchFamily="18" charset="0"/>
              </a:rPr>
              <a:t> (.NET, </a:t>
            </a:r>
            <a:r>
              <a:rPr lang="ru-RU" sz="2000" dirty="0" err="1">
                <a:latin typeface="Times New Roman" pitchFamily="18" charset="0"/>
                <a:cs typeface="Times New Roman" pitchFamily="18" charset="0"/>
              </a:rPr>
              <a:t>Azure</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Active</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Directory</a:t>
            </a:r>
            <a:r>
              <a:rPr lang="ru-RU" sz="2000" dirty="0">
                <a:latin typeface="Times New Roman" pitchFamily="18" charset="0"/>
                <a:cs typeface="Times New Roman" pitchFamily="18" charset="0"/>
              </a:rPr>
              <a:t>)</a:t>
            </a:r>
          </a:p>
          <a:p>
            <a:pPr marL="0" indent="450000"/>
            <a:r>
              <a:rPr lang="ru-RU" sz="2000" dirty="0">
                <a:latin typeface="Times New Roman" pitchFamily="18" charset="0"/>
                <a:cs typeface="Times New Roman" pitchFamily="18" charset="0"/>
              </a:rPr>
              <a:t>Задач </a:t>
            </a:r>
            <a:r>
              <a:rPr lang="ru-RU" sz="2000" dirty="0" err="1">
                <a:latin typeface="Times New Roman" pitchFamily="18" charset="0"/>
                <a:cs typeface="Times New Roman" pitchFamily="18" charset="0"/>
              </a:rPr>
              <a:t>бизнес-аналитики</a:t>
            </a:r>
            <a:r>
              <a:rPr lang="ru-RU" sz="2000" dirty="0">
                <a:latin typeface="Times New Roman" pitchFamily="18" charset="0"/>
                <a:cs typeface="Times New Roman" pitchFamily="18" charset="0"/>
              </a:rPr>
              <a:t> и хранилищ данных (встроенные инструменты SSIS, SSAS, SSRS)</a:t>
            </a:r>
          </a:p>
          <a:p>
            <a:pPr marL="0" indent="450000"/>
            <a:r>
              <a:rPr lang="ru-RU" sz="2000" dirty="0">
                <a:latin typeface="Times New Roman" pitchFamily="18" charset="0"/>
                <a:cs typeface="Times New Roman" pitchFamily="18" charset="0"/>
              </a:rPr>
              <a:t>Сред с преобладанием Microsoft-инфраструктуры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КЛЮЧЕВЫЕ ВЫВОДЫ</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rmAutofit/>
          </a:bodyPr>
          <a:lstStyle/>
          <a:p>
            <a:pPr marL="0" indent="450000">
              <a:buFont typeface="+mj-lt"/>
              <a:buAutoNum type="arabicPeriod"/>
            </a:pPr>
            <a:r>
              <a:rPr lang="ru-RU" sz="2000" dirty="0">
                <a:latin typeface="Times New Roman" pitchFamily="18" charset="0"/>
                <a:cs typeface="Times New Roman" pitchFamily="18" charset="0"/>
              </a:rPr>
              <a:t>Модель процессов: </a:t>
            </a:r>
            <a:r>
              <a:rPr lang="ru-RU" sz="2000" dirty="0" err="1">
                <a:latin typeface="Times New Roman" pitchFamily="18" charset="0"/>
                <a:cs typeface="Times New Roman" pitchFamily="18" charset="0"/>
              </a:rPr>
              <a:t>PostgreSQL</a:t>
            </a:r>
            <a:r>
              <a:rPr lang="ru-RU" sz="2000" dirty="0">
                <a:latin typeface="Times New Roman" pitchFamily="18" charset="0"/>
                <a:cs typeface="Times New Roman" pitchFamily="18" charset="0"/>
              </a:rPr>
              <a:t> — изоляция через процессы,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 эффективность через потоки.</a:t>
            </a:r>
          </a:p>
          <a:p>
            <a:pPr marL="0" indent="450000">
              <a:buFont typeface="+mj-lt"/>
              <a:buAutoNum type="arabicPeriod"/>
            </a:pPr>
            <a:r>
              <a:rPr lang="ru-RU" sz="2000" dirty="0">
                <a:latin typeface="Times New Roman" pitchFamily="18" charset="0"/>
                <a:cs typeface="Times New Roman" pitchFamily="18" charset="0"/>
              </a:rPr>
              <a:t>Параллелизм: MVCC в </a:t>
            </a:r>
            <a:r>
              <a:rPr lang="ru-RU" sz="2000" dirty="0" err="1">
                <a:latin typeface="Times New Roman" pitchFamily="18" charset="0"/>
                <a:cs typeface="Times New Roman" pitchFamily="18" charset="0"/>
              </a:rPr>
              <a:t>PostgreSQL</a:t>
            </a:r>
            <a:r>
              <a:rPr lang="ru-RU" sz="2000" dirty="0">
                <a:latin typeface="Times New Roman" pitchFamily="18" charset="0"/>
                <a:cs typeface="Times New Roman" pitchFamily="18" charset="0"/>
              </a:rPr>
              <a:t> обеспечивает лучшую </a:t>
            </a:r>
            <a:r>
              <a:rPr lang="ru-RU" sz="2000" dirty="0" err="1">
                <a:latin typeface="Times New Roman" pitchFamily="18" charset="0"/>
                <a:cs typeface="Times New Roman" pitchFamily="18" charset="0"/>
              </a:rPr>
              <a:t>масштабируемость</a:t>
            </a:r>
            <a:r>
              <a:rPr lang="ru-RU" sz="2000" dirty="0">
                <a:latin typeface="Times New Roman" pitchFamily="18" charset="0"/>
                <a:cs typeface="Times New Roman" pitchFamily="18" charset="0"/>
              </a:rPr>
              <a:t> при смешанной нагрузке;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требует более тонкой настройки изоляции.</a:t>
            </a:r>
          </a:p>
          <a:p>
            <a:pPr marL="0" indent="450000">
              <a:buFont typeface="+mj-lt"/>
              <a:buAutoNum type="arabicPeriod"/>
            </a:pPr>
            <a:r>
              <a:rPr lang="ru-RU" sz="2000" dirty="0">
                <a:latin typeface="Times New Roman" pitchFamily="18" charset="0"/>
                <a:cs typeface="Times New Roman" pitchFamily="18" charset="0"/>
              </a:rPr>
              <a:t>Индексация: </a:t>
            </a:r>
            <a:r>
              <a:rPr lang="ru-RU" sz="2000" dirty="0" err="1">
                <a:latin typeface="Times New Roman" pitchFamily="18" charset="0"/>
                <a:cs typeface="Times New Roman" pitchFamily="18" charset="0"/>
              </a:rPr>
              <a:t>кластеризованные</a:t>
            </a:r>
            <a:r>
              <a:rPr lang="ru-RU" sz="2000" dirty="0">
                <a:latin typeface="Times New Roman" pitchFamily="18" charset="0"/>
                <a:cs typeface="Times New Roman" pitchFamily="18" charset="0"/>
              </a:rPr>
              <a:t> индексы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дают преимущество в OLTP-сценариях; </a:t>
            </a:r>
            <a:r>
              <a:rPr lang="ru-RU" sz="2000" dirty="0" err="1">
                <a:latin typeface="Times New Roman" pitchFamily="18" charset="0"/>
                <a:cs typeface="Times New Roman" pitchFamily="18" charset="0"/>
              </a:rPr>
              <a:t>PostgreSQL</a:t>
            </a:r>
            <a:r>
              <a:rPr lang="ru-RU" sz="2000" dirty="0">
                <a:latin typeface="Times New Roman" pitchFamily="18" charset="0"/>
                <a:cs typeface="Times New Roman" pitchFamily="18" charset="0"/>
              </a:rPr>
              <a:t> предлагает больше типов индексов для специализированных задач.</a:t>
            </a:r>
          </a:p>
          <a:p>
            <a:pPr marL="0" indent="450000">
              <a:buFont typeface="+mj-lt"/>
              <a:buAutoNum type="arabicPeriod"/>
            </a:pPr>
            <a:r>
              <a:rPr lang="ru-RU" sz="2000" dirty="0">
                <a:latin typeface="Times New Roman" pitchFamily="18" charset="0"/>
                <a:cs typeface="Times New Roman" pitchFamily="18" charset="0"/>
              </a:rPr>
              <a:t>Расширяемость: </a:t>
            </a:r>
            <a:r>
              <a:rPr lang="ru-RU" sz="2000" dirty="0" err="1">
                <a:latin typeface="Times New Roman" pitchFamily="18" charset="0"/>
                <a:cs typeface="Times New Roman" pitchFamily="18" charset="0"/>
              </a:rPr>
              <a:t>PostgreSQL</a:t>
            </a:r>
            <a:r>
              <a:rPr lang="ru-RU" sz="2000" dirty="0">
                <a:latin typeface="Times New Roman" pitchFamily="18" charset="0"/>
                <a:cs typeface="Times New Roman" pitchFamily="18" charset="0"/>
              </a:rPr>
              <a:t> — открытая архитектура,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 интеграция с Microsoft-стеком.</a:t>
            </a:r>
          </a:p>
          <a:p>
            <a:pPr marL="0" indent="450000">
              <a:buFont typeface="+mj-lt"/>
              <a:buAutoNum type="arabicPeriod"/>
            </a:pPr>
            <a:r>
              <a:rPr lang="ru-RU" sz="2000" dirty="0">
                <a:latin typeface="Times New Roman" pitchFamily="18" charset="0"/>
                <a:cs typeface="Times New Roman" pitchFamily="18" charset="0"/>
              </a:rPr>
              <a:t>Выбор зависит от: существующей инфраструктуры, бюджета, требований к </a:t>
            </a:r>
            <a:r>
              <a:rPr lang="ru-RU" sz="2000" dirty="0" err="1">
                <a:latin typeface="Times New Roman" pitchFamily="18" charset="0"/>
                <a:cs typeface="Times New Roman" pitchFamily="18" charset="0"/>
              </a:rPr>
              <a:t>кроссплатформенности</a:t>
            </a:r>
            <a:r>
              <a:rPr lang="ru-RU" sz="2000" dirty="0">
                <a:latin typeface="Times New Roman" pitchFamily="18" charset="0"/>
                <a:cs typeface="Times New Roman" pitchFamily="18" charset="0"/>
              </a:rPr>
              <a:t> и модели данных.</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РЕКОМЕНДАЦИИ ПО ВЫБОРУ</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rmAutofit/>
          </a:bodyPr>
          <a:lstStyle/>
          <a:p>
            <a:pPr marL="0" indent="450000"/>
            <a:r>
              <a:rPr lang="ru-RU" sz="2000" dirty="0">
                <a:latin typeface="Times New Roman" pitchFamily="18" charset="0"/>
                <a:cs typeface="Times New Roman" pitchFamily="18" charset="0"/>
              </a:rPr>
              <a:t>Выбирайте </a:t>
            </a:r>
            <a:r>
              <a:rPr lang="ru-RU" sz="2000" dirty="0" err="1">
                <a:latin typeface="Times New Roman" pitchFamily="18" charset="0"/>
                <a:cs typeface="Times New Roman" pitchFamily="18" charset="0"/>
              </a:rPr>
              <a:t>PostgreSQL</a:t>
            </a:r>
            <a:r>
              <a:rPr lang="ru-RU" sz="2000" dirty="0">
                <a:latin typeface="Times New Roman" pitchFamily="18" charset="0"/>
                <a:cs typeface="Times New Roman" pitchFamily="18" charset="0"/>
              </a:rPr>
              <a:t>, если: важны открытость, </a:t>
            </a:r>
            <a:r>
              <a:rPr lang="ru-RU" sz="2000" dirty="0" err="1">
                <a:latin typeface="Times New Roman" pitchFamily="18" charset="0"/>
                <a:cs typeface="Times New Roman" pitchFamily="18" charset="0"/>
              </a:rPr>
              <a:t>кроссплатформенность</a:t>
            </a:r>
            <a:r>
              <a:rPr lang="ru-RU" sz="2000" dirty="0">
                <a:latin typeface="Times New Roman" pitchFamily="18" charset="0"/>
                <a:cs typeface="Times New Roman" pitchFamily="18" charset="0"/>
              </a:rPr>
              <a:t>, сложные типы данных, </a:t>
            </a:r>
            <a:r>
              <a:rPr lang="ru-RU" sz="2000" dirty="0" err="1">
                <a:latin typeface="Times New Roman" pitchFamily="18" charset="0"/>
                <a:cs typeface="Times New Roman" pitchFamily="18" charset="0"/>
              </a:rPr>
              <a:t>геоданные</a:t>
            </a:r>
            <a:r>
              <a:rPr lang="ru-RU" sz="2000" dirty="0">
                <a:latin typeface="Times New Roman" pitchFamily="18" charset="0"/>
                <a:cs typeface="Times New Roman" pitchFamily="18" charset="0"/>
              </a:rPr>
              <a:t>, отсутствие лицензионных отчислений.</a:t>
            </a:r>
          </a:p>
          <a:p>
            <a:pPr marL="0" indent="450000"/>
            <a:r>
              <a:rPr lang="ru-RU" sz="2000" dirty="0">
                <a:latin typeface="Times New Roman" pitchFamily="18" charset="0"/>
                <a:cs typeface="Times New Roman" pitchFamily="18" charset="0"/>
              </a:rPr>
              <a:t>Выбирайте MS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если: организация уже использует Microsoft-стек, требуется глубокая интеграция с </a:t>
            </a:r>
            <a:r>
              <a:rPr lang="ru-RU" sz="2000" dirty="0" err="1">
                <a:latin typeface="Times New Roman" pitchFamily="18" charset="0"/>
                <a:cs typeface="Times New Roman" pitchFamily="18" charset="0"/>
              </a:rPr>
              <a:t>Azure</a:t>
            </a:r>
            <a:r>
              <a:rPr lang="ru-RU" sz="2000" dirty="0">
                <a:latin typeface="Times New Roman" pitchFamily="18" charset="0"/>
                <a:cs typeface="Times New Roman" pitchFamily="18" charset="0"/>
              </a:rPr>
              <a:t> и BI-инструментами </a:t>
            </a:r>
            <a:r>
              <a:rPr lang="ru-RU" sz="2000" dirty="0" err="1">
                <a:latin typeface="Times New Roman" pitchFamily="18" charset="0"/>
                <a:cs typeface="Times New Roman" pitchFamily="18" charset="0"/>
              </a:rPr>
              <a:t>Microsoft</a:t>
            </a:r>
            <a:r>
              <a:rPr lang="ru-RU" sz="2000" dirty="0">
                <a:latin typeface="Times New Roman" pitchFamily="18" charset="0"/>
                <a:cs typeface="Times New Roman" pitchFamily="18" charset="0"/>
              </a:rPr>
              <a:t>, критична поддержка </a:t>
            </a:r>
            <a:r>
              <a:rPr lang="ru-RU" sz="2000" dirty="0" err="1">
                <a:latin typeface="Times New Roman" pitchFamily="18" charset="0"/>
                <a:cs typeface="Times New Roman" pitchFamily="18" charset="0"/>
              </a:rPr>
              <a:t>вендора</a:t>
            </a:r>
            <a:r>
              <a:rPr lang="ru-RU" sz="2000" dirty="0">
                <a:latin typeface="Times New Roman" pitchFamily="18" charset="0"/>
                <a:cs typeface="Times New Roman" pitchFamily="18" charset="0"/>
              </a:rPr>
              <a:t>.</a:t>
            </a:r>
          </a:p>
          <a:p>
            <a:pPr marL="0" indent="450000"/>
            <a:r>
              <a:rPr lang="ru-RU" sz="2000" dirty="0">
                <a:latin typeface="Times New Roman" pitchFamily="18" charset="0"/>
                <a:cs typeface="Times New Roman" pitchFamily="18" charset="0"/>
              </a:rPr>
              <a:t>Гибридный подход: </a:t>
            </a:r>
            <a:r>
              <a:rPr lang="ru-RU" sz="2000" dirty="0" err="1">
                <a:latin typeface="Times New Roman" pitchFamily="18" charset="0"/>
                <a:cs typeface="Times New Roman" pitchFamily="18" charset="0"/>
              </a:rPr>
              <a:t>PostgreSQL</a:t>
            </a:r>
            <a:r>
              <a:rPr lang="ru-RU" sz="2000" dirty="0">
                <a:latin typeface="Times New Roman" pitchFamily="18" charset="0"/>
                <a:cs typeface="Times New Roman" pitchFamily="18" charset="0"/>
              </a:rPr>
              <a:t> для новых проектов и облачных сервисов, SQL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 для существующих Microsoft-инфраструктур.</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latin typeface="Times New Roman" pitchFamily="18" charset="0"/>
                <a:cs typeface="Times New Roman" pitchFamily="18" charset="0"/>
              </a:rPr>
              <a:t>ИСТОЧНИКИ</a:t>
            </a:r>
            <a:endParaRPr lang="ru-RU" sz="3200" dirty="0">
              <a:latin typeface="Times New Roman" pitchFamily="18" charset="0"/>
              <a:cs typeface="Times New Roman" pitchFamily="18" charset="0"/>
            </a:endParaRPr>
          </a:p>
        </p:txBody>
      </p:sp>
      <p:sp>
        <p:nvSpPr>
          <p:cNvPr id="3" name="Содержимое 2"/>
          <p:cNvSpPr>
            <a:spLocks noGrp="1"/>
          </p:cNvSpPr>
          <p:nvPr>
            <p:ph idx="1"/>
          </p:nvPr>
        </p:nvSpPr>
        <p:spPr/>
        <p:txBody>
          <a:bodyPr>
            <a:normAutofit/>
          </a:bodyPr>
          <a:lstStyle/>
          <a:p>
            <a:pPr marL="0" indent="450000"/>
            <a:r>
              <a:rPr lang="en-US" sz="2000" dirty="0">
                <a:latin typeface="Times New Roman" pitchFamily="18" charset="0"/>
                <a:cs typeface="Times New Roman" pitchFamily="18" charset="0"/>
              </a:rPr>
              <a:t>Popov R.O., </a:t>
            </a:r>
            <a:r>
              <a:rPr lang="en-US" sz="2000" dirty="0" err="1">
                <a:latin typeface="Times New Roman" pitchFamily="18" charset="0"/>
                <a:cs typeface="Times New Roman" pitchFamily="18" charset="0"/>
              </a:rPr>
              <a:t>Gerasimov</a:t>
            </a:r>
            <a:r>
              <a:rPr lang="en-US" sz="2000" dirty="0">
                <a:latin typeface="Times New Roman" pitchFamily="18" charset="0"/>
                <a:cs typeface="Times New Roman" pitchFamily="18" charset="0"/>
              </a:rPr>
              <a:t> V.V. Strategic Considerations for Database Systems: </a:t>
            </a:r>
            <a:r>
              <a:rPr lang="en-US" sz="2000" dirty="0" err="1">
                <a:latin typeface="Times New Roman" pitchFamily="18" charset="0"/>
                <a:cs typeface="Times New Roman" pitchFamily="18" charset="0"/>
              </a:rPr>
              <a:t>PostgreSQL</a:t>
            </a:r>
            <a:r>
              <a:rPr lang="en-US" sz="2000" dirty="0">
                <a:latin typeface="Times New Roman" pitchFamily="18" charset="0"/>
                <a:cs typeface="Times New Roman" pitchFamily="18" charset="0"/>
              </a:rPr>
              <a:t> vs. Microsoft SQL Server. Automation of Technological &amp; Business Processes, 2025, Vol. 17, No. 3.</a:t>
            </a:r>
          </a:p>
          <a:p>
            <a:pPr marL="0" indent="450000"/>
            <a:r>
              <a:rPr lang="en-US" sz="2000" dirty="0" err="1">
                <a:latin typeface="Times New Roman" pitchFamily="18" charset="0"/>
                <a:cs typeface="Times New Roman" pitchFamily="18" charset="0"/>
              </a:rPr>
              <a:t>PostgreSQL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vs</a:t>
            </a:r>
            <a:r>
              <a:rPr lang="en-US" sz="2000" dirty="0">
                <a:latin typeface="Times New Roman" pitchFamily="18" charset="0"/>
                <a:cs typeface="Times New Roman" pitchFamily="18" charset="0"/>
              </a:rPr>
              <a:t> SQL Server. </a:t>
            </a:r>
            <a:r>
              <a:rPr lang="en-US" sz="2000" dirty="0" err="1">
                <a:latin typeface="Times New Roman" pitchFamily="18" charset="0"/>
                <a:cs typeface="Times New Roman" pitchFamily="18" charset="0"/>
              </a:rPr>
              <a:t>InfluxData</a:t>
            </a:r>
            <a:r>
              <a:rPr lang="en-US" sz="2000" dirty="0">
                <a:latin typeface="Times New Roman" pitchFamily="18" charset="0"/>
                <a:cs typeface="Times New Roman" pitchFamily="18" charset="0"/>
              </a:rPr>
              <a:t>.</a:t>
            </a:r>
          </a:p>
          <a:p>
            <a:pPr marL="0" indent="450000"/>
            <a:r>
              <a:rPr lang="en-US" sz="2000" dirty="0" err="1">
                <a:latin typeface="Times New Roman" pitchFamily="18" charset="0"/>
                <a:cs typeface="Times New Roman" pitchFamily="18" charset="0"/>
              </a:rPr>
              <a:t>PostgreSQL</a:t>
            </a:r>
            <a:r>
              <a:rPr lang="en-US" sz="2000" dirty="0">
                <a:latin typeface="Times New Roman" pitchFamily="18" charset="0"/>
                <a:cs typeface="Times New Roman" pitchFamily="18" charset="0"/>
              </a:rPr>
              <a:t> vs. SQL Server: How to Choose. </a:t>
            </a:r>
            <a:r>
              <a:rPr lang="en-US" sz="2000" dirty="0" err="1">
                <a:latin typeface="Times New Roman" pitchFamily="18" charset="0"/>
                <a:cs typeface="Times New Roman" pitchFamily="18" charset="0"/>
              </a:rPr>
              <a:t>Ispirer</a:t>
            </a:r>
            <a:r>
              <a:rPr lang="en-US" sz="2000" dirty="0">
                <a:latin typeface="Times New Roman" pitchFamily="18" charset="0"/>
                <a:cs typeface="Times New Roman" pitchFamily="18" charset="0"/>
              </a:rPr>
              <a:t>.</a:t>
            </a:r>
          </a:p>
          <a:p>
            <a:pPr marL="0" indent="450000"/>
            <a:r>
              <a:rPr lang="en-US" sz="2000" dirty="0" err="1">
                <a:latin typeface="Times New Roman" pitchFamily="18" charset="0"/>
                <a:cs typeface="Times New Roman" pitchFamily="18" charset="0"/>
              </a:rPr>
              <a:t>PostgreSQL</a:t>
            </a:r>
            <a:r>
              <a:rPr lang="en-US" sz="2000" dirty="0">
                <a:latin typeface="Times New Roman" pitchFamily="18" charset="0"/>
                <a:cs typeface="Times New Roman" pitchFamily="18" charset="0"/>
              </a:rPr>
              <a:t> Documentation: Architecture Fundamentals.</a:t>
            </a:r>
          </a:p>
          <a:p>
            <a:pPr marL="0" indent="450000"/>
            <a:r>
              <a:rPr lang="en-US" sz="2000" dirty="0">
                <a:latin typeface="Times New Roman" pitchFamily="18" charset="0"/>
                <a:cs typeface="Times New Roman" pitchFamily="18" charset="0"/>
              </a:rPr>
              <a:t>Microsoft Docs: Thread and Task Architecture Guide.</a:t>
            </a:r>
          </a:p>
          <a:p>
            <a:pPr marL="0" indent="450000"/>
            <a:r>
              <a:rPr lang="en-US" sz="2000" dirty="0">
                <a:latin typeface="Times New Roman" pitchFamily="18" charset="0"/>
                <a:cs typeface="Times New Roman" pitchFamily="18" charset="0"/>
              </a:rPr>
              <a:t>Microsoft Docs: Clustered and </a:t>
            </a:r>
            <a:r>
              <a:rPr lang="en-US" sz="2000" dirty="0" err="1">
                <a:latin typeface="Times New Roman" pitchFamily="18" charset="0"/>
                <a:cs typeface="Times New Roman" pitchFamily="18" charset="0"/>
              </a:rPr>
              <a:t>Nonclustered</a:t>
            </a:r>
            <a:r>
              <a:rPr lang="en-US" sz="2000" dirty="0">
                <a:latin typeface="Times New Roman" pitchFamily="18" charset="0"/>
                <a:cs typeface="Times New Roman" pitchFamily="18" charset="0"/>
              </a:rPr>
              <a:t> Indexes.</a:t>
            </a:r>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582</Words>
  <Application>Microsoft Office PowerPoint</Application>
  <PresentationFormat>Экран (4:3)</PresentationFormat>
  <Paragraphs>90</Paragraphs>
  <Slides>13</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13</vt:i4>
      </vt:variant>
    </vt:vector>
  </HeadingPairs>
  <TitlesOfParts>
    <vt:vector size="14" baseType="lpstr">
      <vt:lpstr>Тема Office</vt:lpstr>
      <vt:lpstr>Архитектурные отличия MS SQL Server и PostgreSQL</vt:lpstr>
      <vt:lpstr>ФИЛОСОФИЯ И ПРОИСХОЖДЕНИЕ</vt:lpstr>
      <vt:lpstr>МОДЕЛЬ ПРОЦЕССОВ — КЛЮЧЕВОЕ РАЗЛИЧИЕ</vt:lpstr>
      <vt:lpstr>УПРАВЛЕНИЕ ПАРАЛЛЕЛИЗМОМ: MVCC VS БЛОКИРОВКИ</vt:lpstr>
      <vt:lpstr>ИНДЕКСЫ</vt:lpstr>
      <vt:lpstr>ТИПЫ ДАННЫХ</vt:lpstr>
      <vt:lpstr>РАСШИРЯЕМОСТЬ</vt:lpstr>
      <vt:lpstr>РАЗВЕРТЫВАНИЕ И КРОССПЛАТФОРМЕННОСТЬ</vt:lpstr>
      <vt:lpstr>СВОДНАЯ ТАБЛИЦА</vt:lpstr>
      <vt:lpstr>ВЛИЯНИЕ НА ПРОИЗВОДИТЕЛЬНОСТЬ И СЦЕНАРИИ ИСПОЛЬЗОВАНИЯ</vt:lpstr>
      <vt:lpstr>КЛЮЧЕВЫЕ ВЫВОДЫ</vt:lpstr>
      <vt:lpstr>РЕКОМЕНДАЦИИ ПО ВЫБОРУ</vt:lpstr>
      <vt:lpstr>ИСТОЧНИКИ</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Архитектурные отличия MS SQL Server и PostgreSQL</dc:title>
  <dc:creator>МВидео</dc:creator>
  <cp:lastModifiedBy>МВидео</cp:lastModifiedBy>
  <cp:revision>5</cp:revision>
  <dcterms:created xsi:type="dcterms:W3CDTF">2026-09-14T12:35:41Z</dcterms:created>
  <dcterms:modified xsi:type="dcterms:W3CDTF">2026-09-14T13:23:49Z</dcterms:modified>
</cp:coreProperties>
</file>