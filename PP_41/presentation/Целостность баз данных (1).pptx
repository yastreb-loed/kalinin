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JetBrains Mono"/>
      <ns0:regular ns1:id="rIdFont18"/>
    </ns0:embeddedFont>
    <ns0:embeddedFont>
      <ns0:font typeface="Inter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b93f27cd-33c6-4ad9-b85f-8c93e2221bf3.fntdata" /><ns0:Relationship Id="rIdFont19" Type="http://schemas.openxmlformats.org/officeDocument/2006/relationships/font" Target="fonts/4422ac06-9ac6-4beb-b8d6-f43020a77653.fntdata" /><ns0:Relationship Id="rIdFont20" Type="http://schemas.openxmlformats.org/officeDocument/2006/relationships/font" Target="fonts/464606d7-d1af-49d6-a3d6-48c3cecc34e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89102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02147"/>
            <a:ext cx="2586037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89102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06972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Целостность баз данных: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Inter"/>
              </a:rPr>
              <a:t>понятие, стратегии и объекты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36602"/>
            <a:ext cx="7524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Механизмы обеспечения корректности, непротиворечивости и достоверности информации на уровне СУБД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759297"/>
            <a:ext cx="24145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СУБД И АРХИТЕКТУРА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9937" y="1759297"/>
            <a:ext cx="3012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Теоретический и практический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65327"/>
            <a:ext cx="3464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Тема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65352"/>
            <a:ext cx="3464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Data Integrity &amp; Database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4765327"/>
            <a:ext cx="3667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Уровень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4965352"/>
            <a:ext cx="3667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Проектирование и администрация БД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808089"/>
            <a:ext cx="5257800" cy="11370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08089"/>
            <a:ext cx="38100" cy="11370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6450"/>
            <a:ext cx="52578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40398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54723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69048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01. БАЗОВОЕ ПОНЯТИЕ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Что такое целостность данных?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98589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Определение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74814"/>
            <a:ext cx="49339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Соответствие хранимой информации физическому состоянию предметной области и правилам системы.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35635"/>
            <a:ext cx="428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Точность и достоверность информации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49960"/>
            <a:ext cx="4905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Отсутствие сиротских и невалидных записей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64285"/>
            <a:ext cx="4345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Защита от сбоев и некорректного ввода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346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64346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64346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64346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02471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02471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3102471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3102471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216771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037" y="3216771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216771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0687" y="3216771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02. КЛАССИФИКАЦИЯ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Четыре уровня целостности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7397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Сущностная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501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Уникальность каждой строки таблицы через первичный ключ.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67397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Ссылочная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9501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Корректность связей между таблицами через внешние ключи.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67397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Доменная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9501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Допустимость значений атрибута по типам и диапазонам.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67397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Пользовательская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9501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Специфические бизнес-правила и логика предметной области.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52675"/>
            <a:ext cx="5381625" cy="3067050"/>
          </a:xfrm>
          <a:prstGeom prst="roundRect">
            <a:avLst>
              <a:gd name="adj" fmla="val 372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2362200"/>
            <a:ext cx="5362575" cy="3048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10100" y="2690812"/>
            <a:ext cx="105727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44100" y="2690812"/>
            <a:ext cx="1323975" cy="219075"/>
          </a:xfrm>
          <a:prstGeom prst="roundRect">
            <a:avLst>
              <a:gd name="adj" fmla="val 17391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03. АРХИТЕКТУРНЫЕ ПОДХОДЫ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Декларативная vs Процедурная стратегия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07657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Задание правил в схеме базы данных инструментами DDL.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07657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Реализация сложной бизнес-логики через программный код.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676525"/>
            <a:ext cx="36504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Декларативная стратегия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350" y="2728912"/>
            <a:ext cx="962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Нативный слой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66712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Максимальное быстродействие: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исполняется внутри ядра СУБД.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18147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Автоматический контроль: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работает для любых внешних приложений.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69582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Инструменты: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PRIMARY KEY, FOREIGN KEY, CHECK, UNIQUE.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2676525"/>
            <a:ext cx="33504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Процедурная стратегия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9350" y="2728912"/>
            <a:ext cx="1228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Программный слой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66712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Гибкие правила: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проверки межтабличных зависимостей и условий.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418147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Расширенный аудит: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логирование изменений и сложные реакции.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4695825"/>
            <a:ext cx="4829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Инструменты: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триггеры, хранимые процедуры, клиентский код.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5587"/>
            <a:ext cx="35052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95587"/>
            <a:ext cx="35052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95587"/>
            <a:ext cx="35052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300" y="3957637"/>
            <a:ext cx="2971800" cy="40005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0100" y="3957637"/>
            <a:ext cx="2971800" cy="40005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43900" y="3957637"/>
            <a:ext cx="2971800" cy="40005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7181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07181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071812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04. СУЩНОСТНАЯ ЦЕЛОСТНОСТЬ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Первичные и уникальные ключи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40518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Главный идентификатор строки таблицы.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071937"/>
            <a:ext cx="2838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id INT PRIMARY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510087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Не допускает NULL и дубликаты.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40518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Гарантия уникальности значения колонки.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4071937"/>
            <a:ext cx="2838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email VARCHAR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4510087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Допускает значение NULL.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40518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Идентификация по комбинации полей.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71937"/>
            <a:ext cx="2838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PRIMARY KEY (order_id, item_id)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900" y="4510087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Для таблиц связей М:М.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3062287"/>
            <a:ext cx="173771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PRIMARY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3950" y="3062287"/>
            <a:ext cx="231278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UNIQUE Constraint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6325" y="3062287"/>
            <a:ext cx="228778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Составные ключи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2198"/>
            <a:ext cx="6309419" cy="1800225"/>
          </a:xfrm>
          <a:prstGeom prst="roundRect">
            <a:avLst>
              <a:gd name="adj" fmla="val 42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19" y="2076450"/>
            <a:ext cx="420618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05. ССЫЛОЧНАЯ ЦЕЛОСТНОСТЬ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Внешние ключи (FOREIGN KEY) и правила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9976"/>
            <a:ext cx="640466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Внешний ключ связывает поле дочерней таблицы с первичным ключом родительской таблицы.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502223"/>
            <a:ext cx="77560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Реакции на DELETE / UPDATE родителя: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16548"/>
            <a:ext cx="73867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CASCADE: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каскадное удаление или обновление записей.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111823"/>
            <a:ext cx="73867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RESTRICT / NO ACTION: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запрет операции при наличии ссылок.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407098"/>
            <a:ext cx="73867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SET NULL: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запись NULL в дочернее поле.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702373"/>
            <a:ext cx="73867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SET DEFAULT: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установка значения по умолчанию.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350520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2750"/>
            <a:ext cx="350520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2750"/>
            <a:ext cx="350520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527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527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0100" y="4152900"/>
            <a:ext cx="2971800" cy="36195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9527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43900" y="4152900"/>
            <a:ext cx="2971800" cy="36195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06. ДОМЕННАЯ ЦЕЛОСТНОСТЬ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Ограничения атрибутов и доменов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5755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NOT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004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Запрет неопределенных значений в поле.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15290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Обязательность заполнения ключевых данных.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5755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6004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Логическое выражение для проверки данных.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5350" y="4248150"/>
            <a:ext cx="2876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CHECK (age &gt;= 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257550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60045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Автоматическая подстановка значения.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150" y="4248150"/>
            <a:ext cx="2876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DEFAULT CURRENT_TIMESTAMP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53840"/>
            <a:ext cx="5257800" cy="116562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509962"/>
            <a:ext cx="5257800" cy="116562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153840"/>
            <a:ext cx="38100" cy="11656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509962"/>
            <a:ext cx="38100" cy="1165621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6450"/>
            <a:ext cx="52578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07. ПРОЦЕДУРНЫЙ УРОВЕНЬ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Триггеры и хранимые процедуры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344340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Триггеры (Triggers)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49140"/>
            <a:ext cx="49339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Автоматический вызов кода при событиях INSERT, UPDATE, DELETE.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700462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Хранимые процедуры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05262"/>
            <a:ext cx="49339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Инкапсуляция сложных модификаций и бизнес-проверок.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66084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Ключевые сценарии использования: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42309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• Аудит изменений и логирование историчности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418534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• Сложный перерасчет агрегатов и балансов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038350"/>
            <a:ext cx="52578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095625"/>
            <a:ext cx="5257800" cy="923925"/>
          </a:xfrm>
          <a:prstGeom prst="roundRect">
            <a:avLst>
              <a:gd name="adj" fmla="val 8247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171950"/>
            <a:ext cx="5257800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5029200"/>
            <a:ext cx="5257800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6450"/>
            <a:ext cx="52578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08. СИСТЕМНЫЙ ФУНДАМЕНТ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Транзакции и свойства ACID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190750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Atomicity (Атомарность)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390775"/>
            <a:ext cx="4972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Транзакция выполняется полностью или не выполняется вообще.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25755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Inter"/>
              </a:rPr>
              <a:t>Consistency (Согласованность)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5757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C4A6E"/>
                </a:solidFill>
                <a:latin typeface="Inter"/>
              </a:rPr>
              <a:t>Перевод базы данных из одного целостного состояния в другое.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324350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Isolation (Изоляция)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524375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Параллельные транзакции не влияют друг на друга.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5181600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Durability (Долговечность)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5381625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Сохранение результатов после подтверждения COMMIT.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05475" y="1352550"/>
            <a:ext cx="781050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76450" y="4029075"/>
            <a:ext cx="2476500" cy="1476375"/>
          </a:xfrm>
          <a:prstGeom prst="roundRect">
            <a:avLst>
              <a:gd name="adj" fmla="val 64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57750" y="4029075"/>
            <a:ext cx="2476500" cy="1476375"/>
          </a:xfrm>
          <a:prstGeom prst="roundRect">
            <a:avLst>
              <a:gd name="adj" fmla="val 64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39050" y="4029075"/>
            <a:ext cx="2476500" cy="1476375"/>
          </a:xfrm>
          <a:prstGeom prst="roundRect">
            <a:avLst>
              <a:gd name="adj" fmla="val 64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426720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426720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175" y="4267200"/>
            <a:ext cx="2571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0" y="1409700"/>
            <a:ext cx="762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ИТОГИ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343" y="1857375"/>
            <a:ext cx="10501312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Inter"/>
              </a:rPr>
              <a:t>Комплексный подход к целостности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3076575"/>
            <a:ext cx="904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Максимальная надежность достигается комбинацией декларативных ограничений СУБД, процедурных триггеров и транзакционной логики.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4575" y="4610100"/>
            <a:ext cx="262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Защита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4575" y="4867275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Исключение аномалий ввода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875" y="4610100"/>
            <a:ext cx="262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Скорость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875" y="4867275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Проверки на уровне ядра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7175" y="4610100"/>
            <a:ext cx="2625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Масштаб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7175" y="4867275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Стабильность при нагрузках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3462"/>
            <a:ext cx="7798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https://cdn.prod.website-files.com/65d609edcc331dd0e4eb519b/693c611e4105fe0c1e32f427_graphs.png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3487"/>
            <a:ext cx="2809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www.puppygraph.com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04987"/>
            <a:ext cx="738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https://dbschema.com/blog/design/design-a-relational-database-schema/type-of-relationships.png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05012"/>
            <a:ext cx="2131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dbschema.com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76512"/>
            <a:ext cx="8417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https://s33046.pcdn.co/wp-content/uploads/2019/07/sql-server-stored-procedures-with-default-paramete-1.png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76537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www.sqlshack.com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348037"/>
            <a:ext cx="639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https://www.imperva.com/learn/wp-content/uploads/sites/13/2021/08/db-security.png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548062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www.imperva.com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