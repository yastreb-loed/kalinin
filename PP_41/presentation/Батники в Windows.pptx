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</ns0:sldIdLst>
  <ns0:sldSz cx="12192000" cy="6858000" type="screen4x3"/>
  <ns0:notesSz cx="6858000" cy="9144000"/>
  <ns0:embeddedFontLst>
    <ns0:embeddedFont>
      <ns0:font typeface="Inter"/>
      <ns0:bold ns1:id="rIdFont20"/>
      <ns0:regular ns1:id="rIdFont21"/>
    </ns0:embeddedFont>
    <ns0:embeddedFont>
      <ns0:font typeface="JetBrains Mono"/>
      <ns0:bold ns1:id="rIdFont22"/>
      <ns0:regular ns1:id="rIdFont23"/>
    </ns0:embeddedFont>
    <ns0:embeddedFont>
      <ns0:font typeface="Poppins"/>
      <ns0:bold ns1:id="rIdFont24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Font20" Type="http://schemas.openxmlformats.org/officeDocument/2006/relationships/font" Target="fonts/5425e63b-f2c4-4cae-9e06-d4679463bec2.fntdata" /><ns0:Relationship Id="rIdFont21" Type="http://schemas.openxmlformats.org/officeDocument/2006/relationships/font" Target="fonts/8250820f-a4f8-4d9d-8884-4b08aa8bcb86.fntdata" /><ns0:Relationship Id="rIdFont22" Type="http://schemas.openxmlformats.org/officeDocument/2006/relationships/font" Target="fonts/1548c1f6-300b-482b-a1e4-2995b35ec495.fntdata" /><ns0:Relationship Id="rIdFont23" Type="http://schemas.openxmlformats.org/officeDocument/2006/relationships/font" Target="fonts/f229f345-3043-4108-86ec-ff356f4c2fbd.fntdata" /><ns0:Relationship Id="rIdFont24" Type="http://schemas.openxmlformats.org/officeDocument/2006/relationships/font" Target="fonts/5be699c8-04e7-4538-b67b-151b59c17457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776787" y="2426047"/>
            <a:ext cx="2638425" cy="295275"/>
          </a:xfrm>
          <a:prstGeom prst="roundRect">
            <a:avLst>
              <a:gd name="adj" fmla="val 50000"/>
            </a:avLst>
          </a:prstGeom>
          <a:solidFill>
            <a:srgbClr val="153049"/>
          </a:solidFill>
          <a:ln w="9525">
            <a:solidFill>
              <a:srgbClr val="1B4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99384" y="2483197"/>
            <a:ext cx="2993231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38BDF8"/>
                </a:solidFill>
                <a:latin typeface="Inter"/>
              </a:rPr>
              <a:t>АВТОМАТИЗАЦИЯ В WINDOWS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375" y="2911822"/>
            <a:ext cx="10001250" cy="700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520"/>
              </a:lnSpc>
            </a:pPr>
            <a:r>
              <a:rPr b="1" sz="4800" i="0" u="none">
                <a:solidFill>
                  <a:srgbClr val="FFFFFF"/>
                </a:solidFill>
                <a:latin typeface="Poppins"/>
              </a:rPr>
              <a:t>BAT-файлы (Батники)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3803302"/>
            <a:ext cx="952500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0" sz="1650" i="0" u="none">
                <a:solidFill>
                  <a:srgbClr val="94A3B8"/>
                </a:solidFill>
                <a:latin typeface="Inter"/>
              </a:rPr>
              <a:t>Основы пакетных скриптов, синтаксис командной строки cmd.exe и автоматизация системных задач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576887" y="2233612"/>
            <a:ext cx="1038225" cy="295275"/>
          </a:xfrm>
          <a:prstGeom prst="roundRect">
            <a:avLst>
              <a:gd name="adj" fmla="val 50000"/>
            </a:avLst>
          </a:prstGeom>
          <a:solidFill>
            <a:srgbClr val="153049"/>
          </a:solidFill>
          <a:ln w="9525">
            <a:solidFill>
              <a:srgbClr val="1B4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19750" y="3910012"/>
            <a:ext cx="952500" cy="476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586412" y="2290762"/>
            <a:ext cx="101917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38BDF8"/>
                </a:solidFill>
                <a:latin typeface="Inter"/>
              </a:rPr>
              <a:t>РАЗДЕЛ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7898" y="2719387"/>
            <a:ext cx="7496054" cy="809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200" i="0" u="none">
                <a:solidFill>
                  <a:srgbClr val="F8FAFC"/>
                </a:solidFill>
                <a:latin typeface="Poppins"/>
              </a:rPr>
              <a:t>Что такое BAT-файл?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7187" y="4195762"/>
            <a:ext cx="11477625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0" sz="1650" i="0" u="none">
                <a:solidFill>
                  <a:srgbClr val="94A3B8"/>
                </a:solidFill>
                <a:latin typeface="Inter"/>
              </a:rPr>
              <a:t>Концепция пакетного выполнения команд в операционных системах MS-DOS и Windows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638675" y="2152650"/>
            <a:ext cx="533400" cy="257175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00125" y="2409825"/>
            <a:ext cx="533400" cy="257175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143125"/>
            <a:ext cx="5334000" cy="3429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143125"/>
            <a:ext cx="5334000" cy="3429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166937"/>
            <a:ext cx="161925" cy="2190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871787"/>
            <a:ext cx="238125" cy="2190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833812"/>
            <a:ext cx="266700" cy="2190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4538662"/>
            <a:ext cx="209550" cy="2190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476250"/>
            <a:ext cx="11620500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oppins"/>
              </a:rPr>
              <a:t>Принцип работы и формат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0125" y="2143125"/>
            <a:ext cx="500062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0F172A"/>
                </a:solidFill>
                <a:latin typeface="Inter"/>
              </a:rPr>
              <a:t>Текстовый формат: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Файл с расширением или , содержащий последовательность инструкций.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0125" y="2847975"/>
            <a:ext cx="5000625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0F172A"/>
                </a:solidFill>
                <a:latin typeface="Inter"/>
              </a:rPr>
              <a:t>Интерпретатор cmd.exe: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Командный процессор считывает скрипт построчно и выполняет команды по очереди.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125" y="3810000"/>
            <a:ext cx="500062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0F172A"/>
                </a:solidFill>
                <a:latin typeface="Inter"/>
              </a:rPr>
              <a:t>Автоматизация рутины: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Убирает необходимость вручную вводить десятки команд в консоли.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0125" y="4514850"/>
            <a:ext cx="500062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0F172A"/>
                </a:solidFill>
                <a:latin typeface="Inter"/>
              </a:rPr>
              <a:t>Легкость создания: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Пишется в любом базовом редакторе (Блокнот, VS Code, Notepad++).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14875" y="2181225"/>
            <a:ext cx="6667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284C7"/>
                </a:solidFill>
                <a:latin typeface="JetBrains Mono"/>
              </a:rPr>
              <a:t>.bat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6325" y="2438400"/>
            <a:ext cx="6667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284C7"/>
                </a:solidFill>
                <a:latin typeface="JetBrains Mono"/>
              </a:rPr>
              <a:t>.cmd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2462212"/>
            <a:ext cx="5334000" cy="2790825"/>
          </a:xfrm>
          <a:prstGeom prst="roundRect">
            <a:avLst>
              <a:gd name="adj" fmla="val 40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86500" y="2462212"/>
            <a:ext cx="5334000" cy="2790825"/>
          </a:xfrm>
          <a:prstGeom prst="roundRect">
            <a:avLst>
              <a:gd name="adj" fmla="val 40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805112"/>
            <a:ext cx="4648200" cy="3429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2805112"/>
            <a:ext cx="4648200" cy="342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476250"/>
            <a:ext cx="11620500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oppins"/>
              </a:rPr>
              <a:t>Преимущества батников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90887"/>
            <a:ext cx="6100762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284C7"/>
                </a:solidFill>
                <a:latin typeface="Poppins"/>
              </a:rPr>
              <a:t>Скорость и доступность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67137"/>
            <a:ext cx="474345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Работают «из коробки» на любой версии Windows начиная с самых ранних до Windows 11. Не требуют установки тяжелых сред разработки или внешних библиотек.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3290887"/>
            <a:ext cx="5562600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284C7"/>
                </a:solidFill>
                <a:latin typeface="Poppins"/>
              </a:rPr>
              <a:t>Экономия рабочего времени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767137"/>
            <a:ext cx="474345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Позволяют запустить резервное копирование, чистку кэша, запуск пула программ и настройку сети одним двойным кликом мыши.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2424112"/>
            <a:ext cx="3524250" cy="2867025"/>
          </a:xfrm>
          <a:prstGeom prst="roundRect">
            <a:avLst>
              <a:gd name="adj" fmla="val 39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33875" y="2424112"/>
            <a:ext cx="3524250" cy="2867025"/>
          </a:xfrm>
          <a:prstGeom prst="roundRect">
            <a:avLst>
              <a:gd name="adj" fmla="val 39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96250" y="2424112"/>
            <a:ext cx="3524250" cy="2867025"/>
          </a:xfrm>
          <a:prstGeom prst="roundRect">
            <a:avLst>
              <a:gd name="adj" fmla="val 39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71575" y="4119562"/>
            <a:ext cx="1009650" cy="257175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948487" y="3862387"/>
            <a:ext cx="628650" cy="257175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696075" y="4376737"/>
            <a:ext cx="533400" cy="257175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500" y="2767012"/>
            <a:ext cx="476250" cy="4191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6450" y="2767012"/>
            <a:ext cx="419100" cy="4191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0250" y="2767012"/>
            <a:ext cx="476250" cy="4191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476250"/>
            <a:ext cx="11620500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oppins"/>
              </a:rPr>
              <a:t>Базовые команды CLI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375" y="3424237"/>
            <a:ext cx="40005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F172A"/>
                </a:solidFill>
                <a:latin typeface="Poppins"/>
              </a:rPr>
              <a:t>@echo off / echo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8625" y="3852862"/>
            <a:ext cx="381000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Управление выводом текста. скрывает сами служебные команды, оставляя только нужные результаты.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95750" y="3424237"/>
            <a:ext cx="40005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F172A"/>
                </a:solidFill>
                <a:latin typeface="Poppins"/>
              </a:rPr>
              <a:t>pause / exit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91000" y="3852862"/>
            <a:ext cx="381000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Управление завершением. приостанавливает работу до нажатия клавиши, а закрывает окно.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58125" y="3424237"/>
            <a:ext cx="40005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F172A"/>
                </a:solidFill>
                <a:latin typeface="Poppins"/>
              </a:rPr>
              <a:t>cd / dir / md / 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3375" y="3852862"/>
            <a:ext cx="381000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Навигация и файловые операции: смена каталога, вывод содержимого папки, создание и удаление файлов.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4900" y="4148137"/>
            <a:ext cx="1143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1" sz="1200" i="0" u="none">
                <a:solidFill>
                  <a:srgbClr val="0284C7"/>
                </a:solidFill>
                <a:latin typeface="JetBrains Mono"/>
              </a:rPr>
              <a:t>@echo 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81812" y="3890962"/>
            <a:ext cx="762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1" sz="1200" i="0" u="none">
                <a:solidFill>
                  <a:srgbClr val="0284C7"/>
                </a:solidFill>
                <a:latin typeface="JetBrains Mono"/>
              </a:rPr>
              <a:t>pause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405312"/>
            <a:ext cx="6667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1" sz="1200" i="0" u="none">
                <a:solidFill>
                  <a:srgbClr val="0284C7"/>
                </a:solidFill>
                <a:latin typeface="JetBrains Mono"/>
              </a:rPr>
              <a:t>exit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763125" y="2843212"/>
            <a:ext cx="628650" cy="257175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096125" y="3290887"/>
            <a:ext cx="1771650" cy="257175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247900" y="2843212"/>
            <a:ext cx="1200150" cy="257175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962275" y="3290887"/>
            <a:ext cx="1009650" cy="257175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695450" y="3995737"/>
            <a:ext cx="438150" cy="257175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133725" y="4443412"/>
            <a:ext cx="533400" cy="257175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57500"/>
            <a:ext cx="266700" cy="2190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305175"/>
            <a:ext cx="180975" cy="2190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010025"/>
            <a:ext cx="209550" cy="2190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457700"/>
            <a:ext cx="180975" cy="2190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476250"/>
            <a:ext cx="11620500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oppins"/>
              </a:rPr>
              <a:t>Синтаксис и конструкции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125" y="2833687"/>
            <a:ext cx="11191875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0F172A"/>
                </a:solidFill>
                <a:latin typeface="Inter"/>
              </a:rPr>
              <a:t>Переменные ():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Определение данных. Вызов осуществляется через процентные знаки: 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0125" y="3281362"/>
            <a:ext cx="1071562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0F172A"/>
                </a:solidFill>
                <a:latin typeface="Inter"/>
              </a:rPr>
              <a:t>Условные операторы ():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Проверка существования файлов (), сравнение строк и кодов ошибок.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0125" y="3986212"/>
            <a:ext cx="11191875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0F172A"/>
                </a:solidFill>
                <a:latin typeface="Inter"/>
              </a:rPr>
              <a:t>Циклы ():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Итерации по спискам файлов, диапазонам чисел или строкам текстовых документов.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0125" y="4433887"/>
            <a:ext cx="11191875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0F172A"/>
                </a:solidFill>
                <a:latin typeface="Inter"/>
              </a:rPr>
              <a:t>Вызов других скриптов ():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Вызов внешнего .bat файла с передачей управления обратно после завершения.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39325" y="2871787"/>
            <a:ext cx="762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284C7"/>
                </a:solidFill>
                <a:latin typeface="JetBrains Mono"/>
              </a:rPr>
              <a:t>%var%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2325" y="3319462"/>
            <a:ext cx="20621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284C7"/>
                </a:solidFill>
                <a:latin typeface="JetBrains Mono"/>
              </a:rPr>
              <a:t>if exist file.txt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2871787"/>
            <a:ext cx="13477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284C7"/>
                </a:solidFill>
                <a:latin typeface="JetBrains Mono"/>
              </a:rPr>
              <a:t>set var=val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8475" y="3319462"/>
            <a:ext cx="1143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284C7"/>
                </a:solidFill>
                <a:latin typeface="JetBrains Mono"/>
              </a:rPr>
              <a:t>if / else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71650" y="4024312"/>
            <a:ext cx="571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284C7"/>
                </a:solidFill>
                <a:latin typeface="JetBrains Mono"/>
              </a:rPr>
              <a:t>for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9925" y="4471987"/>
            <a:ext cx="6667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284C7"/>
                </a:solidFill>
                <a:latin typeface="JetBrains Mono"/>
              </a:rPr>
              <a:t>call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71500"/>
            <a:ext cx="5650706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oppins"/>
              </a:rPr>
              <a:t>Системное администрирование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952625"/>
            <a:ext cx="5650706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0284C7"/>
                </a:solidFill>
                <a:latin typeface="Poppins"/>
              </a:rPr>
              <a:t>Автоматизация IT-инфраструктуры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466975"/>
            <a:ext cx="5381625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Системные администраторы применяют пакетные файлы для массовой настройки рабочих станций в корпоративных сетях.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352800"/>
            <a:ext cx="5381625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Скрипты интегрируются с </a:t>
            </a:r>
            <a:r>
              <a:rPr b="1" sz="1350" i="0" u="none">
                <a:solidFill>
                  <a:srgbClr val="334155"/>
                </a:solidFill>
                <a:latin typeface="Inter"/>
              </a:rPr>
              <a:t>Планировщиком задач Windows (Task Scheduler)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для регулярного автозапуска ночью или при входе пользователя.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2667000"/>
            <a:ext cx="5334000" cy="2381250"/>
          </a:xfrm>
          <a:prstGeom prst="roundRect">
            <a:avLst>
              <a:gd name="adj" fmla="val 6400"/>
            </a:avLst>
          </a:prstGeom>
          <a:solidFill>
            <a:srgbClr val="F0F9FF"/>
          </a:solidFill>
          <a:ln w="19050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1500" y="476250"/>
            <a:ext cx="11620500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oppins"/>
              </a:rPr>
              <a:t>Эффективность автоматизации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687" y="3067050"/>
            <a:ext cx="6143625" cy="1238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9750"/>
              </a:lnSpc>
            </a:pPr>
            <a:r>
              <a:rPr b="1" sz="9750" i="0" u="none">
                <a:solidFill>
                  <a:srgbClr val="0284C7"/>
                </a:solidFill>
                <a:latin typeface="Poppins"/>
              </a:rPr>
              <a:t>10x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6687" y="4400550"/>
            <a:ext cx="614362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369A1"/>
                </a:solidFill>
                <a:latin typeface="Inter"/>
              </a:rPr>
              <a:t>Ускорение рутины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2833687"/>
            <a:ext cx="5700712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04" i="0" u="none">
                <a:solidFill>
                  <a:srgbClr val="0F172A"/>
                </a:solidFill>
                <a:latin typeface="Poppins"/>
              </a:rPr>
              <a:t>Минимизация человеческого фактора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0" y="3109912"/>
            <a:ext cx="542925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Перевод регулярных шагов обслуживания (очистка временных папок, перезапуск служб, сбор диагностических логов) в автоматический батник исключает случайные ошибки оператора.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0" y="4252912"/>
            <a:ext cx="54292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Задача, занимавшая 15 минут ручного ввода, выполняется скриптом за считанные секунды.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2986087"/>
            <a:ext cx="21580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29507" y="2986087"/>
            <a:ext cx="301228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41789" y="2986087"/>
            <a:ext cx="32932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035057" y="2986087"/>
            <a:ext cx="258544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3557587"/>
            <a:ext cx="21580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29507" y="3557587"/>
            <a:ext cx="301228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41789" y="3557587"/>
            <a:ext cx="32932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035057" y="3557587"/>
            <a:ext cx="258544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" y="4129087"/>
            <a:ext cx="21580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29507" y="4129087"/>
            <a:ext cx="301228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41789" y="4129087"/>
            <a:ext cx="32932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035057" y="4129087"/>
            <a:ext cx="258544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1500" y="4700587"/>
            <a:ext cx="21580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29507" y="4700587"/>
            <a:ext cx="301228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41789" y="4700587"/>
            <a:ext cx="32932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35057" y="4700587"/>
            <a:ext cx="258544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71500" y="5272087"/>
            <a:ext cx="21580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29507" y="5272087"/>
            <a:ext cx="301228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41789" y="5272087"/>
            <a:ext cx="32932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35057" y="5272087"/>
            <a:ext cx="258544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71500" y="2428875"/>
            <a:ext cx="11049000" cy="285750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71500" y="2428875"/>
          <a:ext cx="11048998" cy="285750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158007"/>
                <a:gridCol w="3012281"/>
                <a:gridCol w="3293268"/>
                <a:gridCol w="2585442"/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8FAFC"/>
                          </a:solidFill>
                          <a:latin typeface="Poppins"/>
                        </a:rPr>
                        <a:t>Характеристика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8FAFC"/>
                          </a:solidFill>
                          <a:latin typeface="Poppins"/>
                        </a:rPr>
                        <a:t>BAT / CMD (.bat)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8FAFC"/>
                          </a:solidFill>
                          <a:latin typeface="Poppins"/>
                        </a:rPr>
                        <a:t>PowerShell (.ps1)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8FAFC"/>
                          </a:solidFill>
                          <a:latin typeface="Poppins"/>
                        </a:rPr>
                        <a:t>Python (.py)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334155"/>
                          </a:solidFill>
                          <a:latin typeface="Inter"/>
                        </a:rPr>
                        <a:t>Совместимость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Inter"/>
                        </a:rPr>
                        <a:t>100% Все ОС Windows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Inter"/>
                        </a:rPr>
                        <a:t>Современные Windows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Inter"/>
                        </a:rPr>
                        <a:t>Требует установки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334155"/>
                          </a:solidFill>
                          <a:latin typeface="Inter"/>
                        </a:rPr>
                        <a:t>Сложность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Inter"/>
                        </a:rPr>
                        <a:t>Минимальная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Inter"/>
                        </a:rPr>
                        <a:t>Средняя (объекты)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Inter"/>
                        </a:rPr>
                        <a:t>Универсальная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334155"/>
                          </a:solidFill>
                          <a:latin typeface="Inter"/>
                        </a:rPr>
                        <a:t>Скорость старта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Inter"/>
                        </a:rPr>
                        <a:t>Мгновенная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Inter"/>
                        </a:rPr>
                        <a:t>Небольшая задержка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Inter"/>
                        </a:rPr>
                        <a:t>Зависит от среды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334155"/>
                          </a:solidFill>
                          <a:latin typeface="Inter"/>
                        </a:rPr>
                        <a:t>Основная ниша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Inter"/>
                        </a:rPr>
                        <a:t>Простые ярлыки и запуск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Inter"/>
                        </a:rPr>
                        <a:t>Глубокое системное админ.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Inter"/>
                        </a:rPr>
                        <a:t>Аналитика и сервисы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571500" y="476250"/>
            <a:ext cx="11620500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oppins"/>
              </a:rPr>
              <a:t>Сравнение инструментов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1881187"/>
            <a:ext cx="3524250" cy="3952875"/>
          </a:xfrm>
          <a:prstGeom prst="roundRect">
            <a:avLst>
              <a:gd name="adj" fmla="val 324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33875" y="1881187"/>
            <a:ext cx="3524250" cy="3952875"/>
          </a:xfrm>
          <a:prstGeom prst="roundRect">
            <a:avLst>
              <a:gd name="adj" fmla="val 324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96250" y="1881187"/>
            <a:ext cx="3524250" cy="3952875"/>
          </a:xfrm>
          <a:prstGeom prst="roundRect">
            <a:avLst>
              <a:gd name="adj" fmla="val 324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467850" y="4757737"/>
            <a:ext cx="1771650" cy="257175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2081212"/>
            <a:ext cx="3124200" cy="1905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3900" y="2081212"/>
            <a:ext cx="3124200" cy="1905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6275" y="2081212"/>
            <a:ext cx="3124200" cy="1905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525" y="2081212"/>
            <a:ext cx="3124200" cy="19050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33900" y="2081212"/>
            <a:ext cx="3124200" cy="19050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96275" y="2081212"/>
            <a:ext cx="3124200" cy="1905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476250"/>
            <a:ext cx="11620500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oppins"/>
              </a:rPr>
              <a:t>Безопасность и отладка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1525" y="4129087"/>
            <a:ext cx="3380422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oppins"/>
              </a:rPr>
              <a:t>Проверка источника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1525" y="4491037"/>
            <a:ext cx="321945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Запускайте скрипты только из надежных источников во избежание выполнения вредоносного кода.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3900" y="4129087"/>
            <a:ext cx="3380422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oppins"/>
              </a:rPr>
              <a:t>Права Administrator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3900" y="4491037"/>
            <a:ext cx="321945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Для правки реестра или системных папок скрипт необходимо запускать с правами Администратора.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6275" y="4129087"/>
            <a:ext cx="3380422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oppins"/>
              </a:rPr>
              <a:t>Логирование ошибок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6275" y="4491037"/>
            <a:ext cx="321945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Перенаправляйте вывод команд в файлы логов () для анализа ошибок.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44050" y="4786312"/>
            <a:ext cx="20621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284C7"/>
                </a:solidFill>
                <a:latin typeface="JetBrains Mono"/>
              </a:rPr>
              <a:t>&gt; script.log 2&gt;&amp;1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3838575"/>
            <a:ext cx="110490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1500" y="4095750"/>
            <a:ext cx="2541240" cy="1628775"/>
          </a:xfrm>
          <a:prstGeom prst="roundRect">
            <a:avLst>
              <a:gd name="adj" fmla="val 70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699174" y="371475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07419" y="1990725"/>
            <a:ext cx="2541240" cy="1628775"/>
          </a:xfrm>
          <a:prstGeom prst="roundRect">
            <a:avLst>
              <a:gd name="adj" fmla="val 70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35094" y="371475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43339" y="4095750"/>
            <a:ext cx="2541240" cy="1628775"/>
          </a:xfrm>
          <a:prstGeom prst="roundRect">
            <a:avLst>
              <a:gd name="adj" fmla="val 70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71014" y="371475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079259" y="1990725"/>
            <a:ext cx="2541240" cy="1628775"/>
          </a:xfrm>
          <a:prstGeom prst="roundRect">
            <a:avLst>
              <a:gd name="adj" fmla="val 70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206934" y="371475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1500" y="476250"/>
            <a:ext cx="11620500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oppins"/>
              </a:rPr>
              <a:t>Эволюция пакетных скриптов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964" y="4295775"/>
            <a:ext cx="2810312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284C7"/>
                </a:solidFill>
                <a:latin typeface="Poppins"/>
              </a:rPr>
              <a:t>1981 — MS-DOS 1.0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3876" y="4638675"/>
            <a:ext cx="2676487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Появление файла COMMAND.COM и скрипта AUTOEXEC.BAT.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72883" y="2190750"/>
            <a:ext cx="2810312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284C7"/>
                </a:solidFill>
                <a:latin typeface="Poppins"/>
              </a:rPr>
              <a:t>1993 — Windows 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9796" y="2533650"/>
            <a:ext cx="2676487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Внедрение cmd.exe и расширения .cmd с новыми командами.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08803" y="4295775"/>
            <a:ext cx="2810312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284C7"/>
                </a:solidFill>
                <a:latin typeface="Poppins"/>
              </a:rPr>
              <a:t>2006 — PowerShell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5716" y="4638675"/>
            <a:ext cx="2676487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Релиз объектной консоли Microsoft для сложных систем.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44723" y="2190750"/>
            <a:ext cx="2810312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284C7"/>
                </a:solidFill>
                <a:latin typeface="Poppins"/>
              </a:rPr>
              <a:t>Сегодня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11635" y="2533650"/>
            <a:ext cx="2676487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Батники остаются быстрым стандартом запуска и деплоя.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-404812" y="2333625"/>
            <a:ext cx="13001625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5400" i="0" u="none">
                <a:solidFill>
                  <a:srgbClr val="F8FAFC"/>
                </a:solidFill>
                <a:latin typeface="Poppins"/>
              </a:rPr>
              <a:t>Вопросы и ответы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404812" y="3552825"/>
            <a:ext cx="13001625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b="0" sz="1800" i="0" u="none">
                <a:solidFill>
                  <a:srgbClr val="94A3B8"/>
                </a:solidFill>
                <a:latin typeface="Inter"/>
              </a:rPr>
              <a:t>Спасибо за внимание! Автоматизируйте рутинные задачи легко.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404812" y="4276725"/>
            <a:ext cx="1300162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38BDF8"/>
                </a:solidFill>
                <a:latin typeface="JetBrains Mono"/>
              </a:rPr>
              <a:t>cmd.exe /c "echo Готово к использованию!"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167640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244792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3219450"/>
            <a:ext cx="11049000" cy="9429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4162425"/>
            <a:ext cx="11049000" cy="9429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24384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24384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32099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32099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" y="41529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1500" y="41529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1500" y="50958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1500" y="50958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19275"/>
            <a:ext cx="857250" cy="4762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590800"/>
            <a:ext cx="857250" cy="4762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448050"/>
            <a:ext cx="857250" cy="4762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391025"/>
            <a:ext cx="857250" cy="4762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5334000"/>
            <a:ext cx="857250" cy="4762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71500" y="476250"/>
            <a:ext cx="11620500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oppins"/>
              </a:rPr>
              <a:t>Image Sources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6875" y="1826418"/>
            <a:ext cx="10525125" cy="18573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Inter"/>
              </a:rPr>
              <a:t>https://i.redd.it/37easyjd8syg1.jpeg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66875" y="2059781"/>
            <a:ext cx="105251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www.reddit.com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66875" y="2597943"/>
            <a:ext cx="10525125" cy="18573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Inter"/>
              </a:rPr>
              <a:t>https://images.stockcake.com/public/e/4/9/e49d3c06-b5c3-4d08-a45a-fa8e4942cb9d_medium/technician-wiring-server-stockcake.jpg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66875" y="2831306"/>
            <a:ext cx="105251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stockcake.com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6875" y="3362325"/>
            <a:ext cx="1004887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Inter"/>
              </a:rPr>
              <a:t>https://elements-resized.envatousercontent.com/elements-video-cover-images/90242c38-cec5-44d8-ad5c-b573d142e485/video_preview/video_preview_0000.jpg?w=500&amp;cf_fit=cover&amp;q=85&amp;format=auto&amp;s=18f94fc91acefcaae6899329f2550068090a2f15b711ee196f1999a3869a703c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66875" y="3781425"/>
            <a:ext cx="105251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elements.envato.com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66875" y="4305300"/>
            <a:ext cx="1004887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Inter"/>
              </a:rPr>
              <a:t>https://img.magnific.com/premium-photo/businessman-holding-glowing-safety-first-shield-icon-representing-workplace-protection-risk-management-corporate-responsibility-employee-care-compliance-culture-modern-security-awareness-concept_50039-6652.jpg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66875" y="4724400"/>
            <a:ext cx="105251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www.magnific.com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66875" y="5248275"/>
            <a:ext cx="1004887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Inter"/>
              </a:rPr>
              <a:t>https://replydam.discoveryreplymedia.com/production/9/9/0dedc99c-046e-a806-81d9-1ac71104d231/2f69be02-65b0-4599-8769-0fff180de128.jpeg?im=Crop,rect=(55,0,1156,650),allowExpansion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66875" y="5667375"/>
            <a:ext cx="105251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www.reply.com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